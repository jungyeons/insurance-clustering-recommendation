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4"/>
  </p:notesMasterIdLst>
  <p:sldIdLst>
    <p:sldId id="261" r:id="rId2"/>
    <p:sldId id="259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80" r:id="rId12"/>
    <p:sldId id="275" r:id="rId13"/>
    <p:sldId id="276" r:id="rId14"/>
    <p:sldId id="277" r:id="rId15"/>
    <p:sldId id="281" r:id="rId16"/>
    <p:sldId id="278" r:id="rId17"/>
    <p:sldId id="282" r:id="rId18"/>
    <p:sldId id="283" r:id="rId19"/>
    <p:sldId id="284" r:id="rId20"/>
    <p:sldId id="287" r:id="rId21"/>
    <p:sldId id="288" r:id="rId22"/>
    <p:sldId id="285" r:id="rId23"/>
    <p:sldId id="289" r:id="rId24"/>
    <p:sldId id="290" r:id="rId25"/>
    <p:sldId id="296" r:id="rId26"/>
    <p:sldId id="297" r:id="rId27"/>
    <p:sldId id="286" r:id="rId28"/>
    <p:sldId id="291" r:id="rId29"/>
    <p:sldId id="292" r:id="rId30"/>
    <p:sldId id="295" r:id="rId31"/>
    <p:sldId id="293" r:id="rId32"/>
    <p:sldId id="298" r:id="rId33"/>
  </p:sldIdLst>
  <p:sldSz cx="12192000" cy="6858000"/>
  <p:notesSz cx="6858000" cy="9144000"/>
  <p:embeddedFontLst>
    <p:embeddedFont>
      <p:font typeface="G마켓 산스 TTF Medium" panose="02000000000000000000" pitchFamily="2" charset="-127"/>
      <p:regular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0EA"/>
    <a:srgbClr val="9473E7"/>
    <a:srgbClr val="DCD1F7"/>
    <a:srgbClr val="8FAA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5026" autoAdjust="0"/>
  </p:normalViewPr>
  <p:slideViewPr>
    <p:cSldViewPr snapToGrid="0">
      <p:cViewPr varScale="1">
        <p:scale>
          <a:sx n="87" d="100"/>
          <a:sy n="87" d="100"/>
        </p:scale>
        <p:origin x="60" y="549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A25F8-EC9B-4A71-83A8-39D27CCC72AC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517CE-A1AD-48B7-8741-47DCDFED2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091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캡스톤</a:t>
            </a:r>
            <a:r>
              <a:rPr lang="ko-KR" altLang="en-US" dirty="0"/>
              <a:t> 디자인 </a:t>
            </a:r>
            <a:r>
              <a:rPr lang="en-US" altLang="ko-KR" dirty="0"/>
              <a:t>3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팀원 소개</a:t>
            </a:r>
            <a:r>
              <a:rPr lang="en-US" altLang="ko-KR" dirty="0"/>
              <a:t>, </a:t>
            </a:r>
            <a:r>
              <a:rPr lang="ko-KR" altLang="en-US" dirty="0"/>
              <a:t>토픽 언급 및 인사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7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목차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104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주제 선정 배경</a:t>
            </a:r>
            <a:r>
              <a:rPr lang="en-US" altLang="ko-KR" dirty="0"/>
              <a:t>(</a:t>
            </a:r>
            <a:r>
              <a:rPr lang="ko-KR" altLang="en-US" dirty="0" err="1"/>
              <a:t>캡스톤</a:t>
            </a:r>
            <a:r>
              <a:rPr lang="ko-KR" altLang="en-US" dirty="0"/>
              <a:t> 기획서 </a:t>
            </a:r>
            <a:r>
              <a:rPr lang="ko-KR" altLang="en-US" dirty="0" err="1"/>
              <a:t>승호님</a:t>
            </a:r>
            <a:r>
              <a:rPr lang="ko-KR" altLang="en-US" dirty="0"/>
              <a:t> 자료 참고</a:t>
            </a:r>
            <a:r>
              <a:rPr lang="en-US" altLang="ko-KR" dirty="0"/>
              <a:t>) </a:t>
            </a:r>
            <a:r>
              <a:rPr lang="ko-KR" altLang="en-US" dirty="0"/>
              <a:t>소개</a:t>
            </a:r>
            <a:r>
              <a:rPr lang="en-US" altLang="ko-KR" dirty="0"/>
              <a:t>, </a:t>
            </a:r>
            <a:r>
              <a:rPr lang="ko-KR" altLang="en-US" dirty="0"/>
              <a:t>한 가지의 주제로 팀원 각각 한 개씩 모델링을 하고자 군집화 모델링 기법 세 가지 선정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792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계약 정보 컬럼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940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상품정보 데이터 컬럼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619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건강정보 데이터 컬럼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460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보장정보 데이터 컬럼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598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모델링에 앞서 간략하게 시각화 자료를 통해 데이터 파악</a:t>
            </a:r>
            <a:endParaRPr lang="en-US" altLang="ko-KR" dirty="0"/>
          </a:p>
          <a:p>
            <a:r>
              <a:rPr lang="ko-KR" altLang="en-US" dirty="0"/>
              <a:t>연령 및 성별 분포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812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월 보험료 </a:t>
            </a:r>
            <a:r>
              <a:rPr lang="ko-KR" altLang="en-US" dirty="0" err="1"/>
              <a:t>통계값</a:t>
            </a:r>
            <a:r>
              <a:rPr lang="ko-KR" altLang="en-US" dirty="0"/>
              <a:t>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018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중요한 담보코드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805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건강위험도 등급 파악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723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가지 모델 전부 동일한 </a:t>
            </a:r>
            <a:r>
              <a:rPr lang="ko-KR" altLang="en-US" dirty="0" err="1"/>
              <a:t>전처리</a:t>
            </a:r>
            <a:r>
              <a:rPr lang="ko-KR" altLang="en-US" dirty="0"/>
              <a:t> 과정 진행</a:t>
            </a:r>
            <a:endParaRPr lang="en-US" altLang="ko-KR" dirty="0"/>
          </a:p>
          <a:p>
            <a:r>
              <a:rPr lang="ko-KR" altLang="en-US" dirty="0"/>
              <a:t>데이터 불러오고</a:t>
            </a:r>
            <a:r>
              <a:rPr lang="en-US" altLang="ko-KR" dirty="0"/>
              <a:t>, </a:t>
            </a:r>
            <a:r>
              <a:rPr lang="ko-KR" altLang="en-US" dirty="0"/>
              <a:t>사용할 컬럼들만 남기고 진행</a:t>
            </a:r>
            <a:endParaRPr lang="en-US" altLang="ko-KR" dirty="0"/>
          </a:p>
          <a:p>
            <a:r>
              <a:rPr lang="en-US" altLang="ko-KR" dirty="0"/>
              <a:t>Id</a:t>
            </a:r>
            <a:r>
              <a:rPr lang="ko-KR" altLang="en-US" dirty="0"/>
              <a:t> 평균 월보험료로 그룹화하고</a:t>
            </a:r>
            <a:r>
              <a:rPr lang="en-US" altLang="ko-KR" dirty="0"/>
              <a:t>, </a:t>
            </a:r>
            <a:r>
              <a:rPr lang="ko-KR" altLang="en-US" dirty="0"/>
              <a:t>나이에 대한 컬럼이 없어 생년월일 변환하여 만 나이를 계산해 추가함</a:t>
            </a:r>
            <a:endParaRPr lang="en-US" altLang="ko-KR" dirty="0"/>
          </a:p>
          <a:p>
            <a:r>
              <a:rPr lang="ko-KR" altLang="en-US" dirty="0" err="1"/>
              <a:t>원핫인코딩</a:t>
            </a:r>
            <a:r>
              <a:rPr lang="ko-KR" altLang="en-US" dirty="0"/>
              <a:t> 기법을 사용하여 </a:t>
            </a:r>
            <a:r>
              <a:rPr lang="en-US" altLang="ko-KR" dirty="0"/>
              <a:t>gender </a:t>
            </a:r>
            <a:r>
              <a:rPr lang="ko-KR" altLang="en-US" dirty="0"/>
              <a:t>컬럼을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 err="1"/>
              <a:t>전처리</a:t>
            </a:r>
            <a:r>
              <a:rPr lang="ko-KR" altLang="en-US" dirty="0"/>
              <a:t> 과정을 끝낸 데이터프레임</a:t>
            </a:r>
            <a:r>
              <a:rPr lang="en-US" altLang="ko-KR" dirty="0"/>
              <a:t> </a:t>
            </a:r>
            <a:r>
              <a:rPr lang="ko-KR" altLang="en-US" dirty="0"/>
              <a:t>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147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12</a:t>
            </a:r>
            <a:r>
              <a:rPr lang="ko-KR" altLang="en-US" dirty="0"/>
              <a:t>페이지와 동일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863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앞선 두가지 데이터프레임을 </a:t>
            </a:r>
            <a:r>
              <a:rPr lang="en-US" altLang="ko-KR" dirty="0"/>
              <a:t>id </a:t>
            </a:r>
            <a:r>
              <a:rPr lang="ko-KR" altLang="en-US" dirty="0"/>
              <a:t>기준으로 병합</a:t>
            </a:r>
            <a:endParaRPr lang="en-US" altLang="ko-KR" dirty="0"/>
          </a:p>
          <a:p>
            <a:r>
              <a:rPr lang="ko-KR" altLang="en-US" dirty="0"/>
              <a:t>고객 계약정보와 상품정보를 병합하여 고객데이터를 </a:t>
            </a:r>
            <a:r>
              <a:rPr lang="ko-KR" altLang="en-US" dirty="0" err="1"/>
              <a:t>만들어냄</a:t>
            </a:r>
            <a:r>
              <a:rPr lang="en-US" altLang="ko-KR" dirty="0"/>
              <a:t>(</a:t>
            </a:r>
            <a:r>
              <a:rPr lang="ko-KR" altLang="en-US" dirty="0"/>
              <a:t>해당 행수를 보면 늘어난 것을 확인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459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건강정보데이터 불러와서 필요한 컬럼만 남기고</a:t>
            </a:r>
            <a:r>
              <a:rPr lang="en-US" altLang="ko-KR" dirty="0"/>
              <a:t>, </a:t>
            </a:r>
            <a:r>
              <a:rPr lang="ko-KR" altLang="en-US" dirty="0" err="1"/>
              <a:t>결측치가</a:t>
            </a:r>
            <a:r>
              <a:rPr lang="ko-KR" altLang="en-US" dirty="0"/>
              <a:t> 존재한다면 </a:t>
            </a:r>
            <a:r>
              <a:rPr lang="en-US" altLang="ko-KR" dirty="0"/>
              <a:t>0</a:t>
            </a:r>
            <a:r>
              <a:rPr lang="ko-KR" altLang="en-US" dirty="0"/>
              <a:t>으로 대체하여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/>
              <a:t>평균 </a:t>
            </a:r>
            <a:r>
              <a:rPr lang="en-US" altLang="ko-KR" dirty="0"/>
              <a:t>rate </a:t>
            </a:r>
            <a:r>
              <a:rPr lang="ko-KR" altLang="en-US" dirty="0"/>
              <a:t>계산해서 추가한다음 </a:t>
            </a:r>
            <a:r>
              <a:rPr lang="en-US" altLang="ko-KR" dirty="0"/>
              <a:t>id </a:t>
            </a:r>
            <a:r>
              <a:rPr lang="ko-KR" altLang="en-US" dirty="0"/>
              <a:t>중복 제거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앞서 만든 고객데이터에 건강정보 데이터 병합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712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보장정보 데이터를 불러오고</a:t>
            </a:r>
            <a:r>
              <a:rPr lang="en-US" altLang="ko-KR" dirty="0"/>
              <a:t>, </a:t>
            </a:r>
            <a:r>
              <a:rPr lang="ko-KR" altLang="en-US" dirty="0"/>
              <a:t>필요한 컬럼만 </a:t>
            </a:r>
            <a:r>
              <a:rPr lang="ko-KR" altLang="en-US" dirty="0" err="1"/>
              <a:t>남긴후</a:t>
            </a:r>
            <a:r>
              <a:rPr lang="ko-KR" altLang="en-US" dirty="0"/>
              <a:t> 담보코드 </a:t>
            </a:r>
            <a:r>
              <a:rPr lang="en-US" altLang="ko-KR" dirty="0"/>
              <a:t>A</a:t>
            </a:r>
            <a:r>
              <a:rPr lang="ko-KR" altLang="en-US" dirty="0"/>
              <a:t>로 시작하는 것들만 남기기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담보코드가 뭘 보장하는지 궁금하다면 </a:t>
            </a:r>
            <a:r>
              <a:rPr lang="en-US" altLang="ko-KR" dirty="0" err="1"/>
              <a:t>coverageName</a:t>
            </a:r>
            <a:r>
              <a:rPr lang="ko-KR" altLang="en-US" dirty="0"/>
              <a:t>을 남겨 해당 담보코드가 뭘 보장하는지 알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49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스케일링 필요성과 이유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644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PCA</a:t>
            </a:r>
            <a:r>
              <a:rPr lang="ko-KR" altLang="en-US" dirty="0"/>
              <a:t> 필요성과 이유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주성분 </a:t>
            </a:r>
            <a:r>
              <a:rPr lang="en-US" altLang="ko-KR" dirty="0"/>
              <a:t>2</a:t>
            </a:r>
            <a:r>
              <a:rPr lang="ko-KR" altLang="en-US" dirty="0"/>
              <a:t>개로 설정해 </a:t>
            </a:r>
            <a:r>
              <a:rPr lang="en-US" altLang="ko-KR" dirty="0"/>
              <a:t>pc1</a:t>
            </a:r>
            <a:r>
              <a:rPr lang="ko-KR" altLang="en-US" dirty="0"/>
              <a:t>의 포인트들의 값들과 </a:t>
            </a:r>
            <a:r>
              <a:rPr lang="en-US" altLang="ko-KR" dirty="0"/>
              <a:t>pc2</a:t>
            </a:r>
            <a:r>
              <a:rPr lang="ko-KR" altLang="en-US" dirty="0"/>
              <a:t>의 포인트들 값 </a:t>
            </a:r>
            <a:r>
              <a:rPr lang="en-US" altLang="ko-KR" dirty="0"/>
              <a:t>(</a:t>
            </a:r>
            <a:r>
              <a:rPr lang="ko-KR" altLang="en-US" dirty="0"/>
              <a:t>전반적으로 </a:t>
            </a:r>
            <a:r>
              <a:rPr lang="en-US" altLang="ko-KR" dirty="0"/>
              <a:t>pc2</a:t>
            </a:r>
            <a:r>
              <a:rPr lang="ko-KR" altLang="en-US" dirty="0"/>
              <a:t>가 </a:t>
            </a:r>
            <a:r>
              <a:rPr lang="en-US" altLang="ko-KR" dirty="0"/>
              <a:t>pc1</a:t>
            </a:r>
            <a:r>
              <a:rPr lang="ko-KR" altLang="en-US" dirty="0"/>
              <a:t>보다는 큰 값을 가지고 있으므로 </a:t>
            </a:r>
            <a:r>
              <a:rPr lang="en-US" altLang="ko-KR" dirty="0"/>
              <a:t>pc2</a:t>
            </a:r>
            <a:r>
              <a:rPr lang="ko-KR" altLang="en-US" dirty="0"/>
              <a:t> 값들의 분산이 크다고 할 수 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191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Dbscan</a:t>
            </a:r>
            <a:r>
              <a:rPr lang="ko-KR" altLang="en-US" dirty="0"/>
              <a:t> 모델링 설명 및 클러스터링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964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디비스캔</a:t>
            </a:r>
            <a:r>
              <a:rPr lang="ko-KR" altLang="en-US" dirty="0"/>
              <a:t> 클러스터링 시각화 자료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082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디비스캔</a:t>
            </a:r>
            <a:r>
              <a:rPr lang="ko-KR" altLang="en-US" dirty="0"/>
              <a:t> 예측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260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퍼지 모델 시각화 </a:t>
            </a:r>
            <a:endParaRPr lang="en-US" altLang="ko-KR" dirty="0"/>
          </a:p>
          <a:p>
            <a:r>
              <a:rPr lang="en-US" altLang="ko-KR" dirty="0" err="1"/>
              <a:t>Fpc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에 가까울 수록 적합한 군집</a:t>
            </a:r>
            <a:r>
              <a:rPr lang="en-US" altLang="ko-KR" dirty="0"/>
              <a:t>, </a:t>
            </a:r>
            <a:r>
              <a:rPr lang="ko-KR" altLang="en-US" dirty="0"/>
              <a:t>즉 군집의 수가 </a:t>
            </a:r>
            <a:r>
              <a:rPr lang="en-US" altLang="ko-KR" dirty="0"/>
              <a:t>2</a:t>
            </a:r>
            <a:r>
              <a:rPr lang="ko-KR" altLang="en-US" dirty="0"/>
              <a:t>개인 군집화가 가장 베스트이지만 군집 수가 너무 적어 오히려 모델 정확도가 떨어질 것이라고 판단</a:t>
            </a:r>
            <a:endParaRPr lang="en-US" altLang="ko-KR" dirty="0"/>
          </a:p>
          <a:p>
            <a:r>
              <a:rPr lang="ko-KR" altLang="en-US" dirty="0"/>
              <a:t>그 다음으로 </a:t>
            </a:r>
            <a:r>
              <a:rPr lang="en-US" altLang="ko-KR" dirty="0"/>
              <a:t>1</a:t>
            </a:r>
            <a:r>
              <a:rPr lang="ko-KR" altLang="en-US" dirty="0"/>
              <a:t>에 가까운 군집의 수가 </a:t>
            </a:r>
            <a:r>
              <a:rPr lang="en-US" altLang="ko-KR" dirty="0"/>
              <a:t>3</a:t>
            </a:r>
            <a:r>
              <a:rPr lang="ko-KR" altLang="en-US" dirty="0"/>
              <a:t>개인 군집화로 설정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518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퍼지 모델 설명</a:t>
            </a:r>
            <a:r>
              <a:rPr lang="en-US" altLang="ko-KR" dirty="0"/>
              <a:t>, </a:t>
            </a:r>
            <a:r>
              <a:rPr lang="ko-KR" altLang="en-US" dirty="0"/>
              <a:t>역시 군집 수 </a:t>
            </a:r>
            <a:r>
              <a:rPr lang="ko-KR" altLang="en-US" dirty="0" err="1"/>
              <a:t>찾기위해</a:t>
            </a:r>
            <a:r>
              <a:rPr lang="ko-KR" altLang="en-US" dirty="0"/>
              <a:t> </a:t>
            </a:r>
            <a:r>
              <a:rPr lang="en-US" altLang="ko-KR" dirty="0" err="1"/>
              <a:t>fpcs</a:t>
            </a:r>
            <a:r>
              <a:rPr lang="en-US" altLang="ko-KR" dirty="0"/>
              <a:t> </a:t>
            </a:r>
            <a:r>
              <a:rPr lang="ko-KR" altLang="en-US" dirty="0"/>
              <a:t>그래프를 그려봤으나 </a:t>
            </a:r>
            <a:r>
              <a:rPr lang="en-US" altLang="ko-KR" dirty="0"/>
              <a:t>2</a:t>
            </a:r>
            <a:r>
              <a:rPr lang="ko-KR" altLang="en-US" dirty="0"/>
              <a:t>가 베스트</a:t>
            </a:r>
            <a:r>
              <a:rPr lang="en-US" altLang="ko-KR" dirty="0"/>
              <a:t>, </a:t>
            </a:r>
            <a:r>
              <a:rPr lang="ko-KR" altLang="en-US" dirty="0"/>
              <a:t>같은 이유로 </a:t>
            </a:r>
            <a:r>
              <a:rPr lang="en-US" altLang="ko-KR" dirty="0"/>
              <a:t>3</a:t>
            </a:r>
            <a:r>
              <a:rPr lang="ko-KR" altLang="en-US" dirty="0"/>
              <a:t>으로 설정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클러스터 중심을 가지고 퍼지모델을 생성 후 시각화 오른쪽과 같은 퍼지모델 생성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399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Pca</a:t>
            </a:r>
            <a:r>
              <a:rPr lang="ko-KR" altLang="en-US" dirty="0"/>
              <a:t> 데이터를 가지고 만든 퍼지 모델에 클러스터 멤버십</a:t>
            </a:r>
            <a:r>
              <a:rPr lang="en-US" altLang="ko-KR" dirty="0"/>
              <a:t>(id) </a:t>
            </a:r>
            <a:r>
              <a:rPr lang="ko-KR" altLang="en-US" dirty="0"/>
              <a:t>할당하여 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0148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클러스터 멤버십을 고객데이터에 추가 </a:t>
            </a:r>
            <a:endParaRPr lang="en-US" altLang="ko-KR" dirty="0"/>
          </a:p>
          <a:p>
            <a:r>
              <a:rPr lang="ko-KR" altLang="en-US" dirty="0"/>
              <a:t>아이디와 클러스터 멤버십 컬럼만 뽑아 새로운 데이터 프레임을 형성한 후 이를 담보코드와 다시 병합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1313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퍼지 클러스터링을 통해 결정된 군집 개수를 가지고 사용자에게 군집을 할당함</a:t>
            </a:r>
            <a:endParaRPr lang="en-US" altLang="ko-KR" dirty="0"/>
          </a:p>
          <a:p>
            <a:r>
              <a:rPr lang="ko-KR" altLang="en-US" dirty="0"/>
              <a:t>실제 사용자가 어떤 군집인지 처음 열개 행</a:t>
            </a:r>
            <a:r>
              <a:rPr lang="en-US" altLang="ko-KR" dirty="0"/>
              <a:t>, </a:t>
            </a:r>
            <a:r>
              <a:rPr lang="ko-KR" altLang="en-US" dirty="0"/>
              <a:t>끝에서 열개 행 출력하여 확인 가능</a:t>
            </a:r>
            <a:endParaRPr lang="en-US" altLang="ko-KR" dirty="0"/>
          </a:p>
          <a:p>
            <a:endParaRPr lang="en-US" altLang="ko-KR" dirty="0"/>
          </a:p>
          <a:p>
            <a:pPr algn="just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사용자에 대한 추천을 수행하기 위해 군집 내의 다른 사용자가 아직 갖고 있지 않은 담보코드 군집을 찾아 추천 담보코드 군집을 선택해 출력한다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추천된 군집이 갖는 담보코드의 리스트를 출력하여 결과를 확인한다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algn="just">
              <a:lnSpc>
                <a:spcPct val="150000"/>
              </a:lnSpc>
              <a:defRPr/>
            </a:pPr>
            <a:endParaRPr lang="ko-KR" altLang="en-US" sz="12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9862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K-means </a:t>
            </a:r>
            <a:r>
              <a:rPr lang="ko-KR" altLang="en-US" dirty="0"/>
              <a:t>설명</a:t>
            </a:r>
            <a:r>
              <a:rPr lang="en-US" altLang="ko-KR" dirty="0"/>
              <a:t>, </a:t>
            </a:r>
            <a:r>
              <a:rPr lang="ko-KR" altLang="en-US" dirty="0"/>
              <a:t>클러스터 개수 찾기 위해 </a:t>
            </a:r>
            <a:r>
              <a:rPr lang="ko-KR" altLang="en-US" dirty="0" err="1"/>
              <a:t>엘보우</a:t>
            </a:r>
            <a:r>
              <a:rPr lang="ko-KR" altLang="en-US" dirty="0"/>
              <a:t> 기법 사용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564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클러스터 아이디 할당 후</a:t>
            </a:r>
            <a:r>
              <a:rPr lang="en-US" altLang="ko-KR" dirty="0"/>
              <a:t>, </a:t>
            </a:r>
            <a:r>
              <a:rPr lang="ko-KR" altLang="en-US" dirty="0"/>
              <a:t>시각화 설명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2161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클러스터 데이터프레임에 각각 클러스터 아이디를 할당하고</a:t>
            </a:r>
            <a:r>
              <a:rPr lang="en-US" altLang="ko-KR" dirty="0"/>
              <a:t>, </a:t>
            </a:r>
            <a:r>
              <a:rPr lang="ko-KR" altLang="en-US" dirty="0" err="1"/>
              <a:t>통계값</a:t>
            </a:r>
            <a:r>
              <a:rPr lang="ko-KR" altLang="en-US" dirty="0"/>
              <a:t>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아이디와 클러스터 아이디만 가지고 만든 데이터프레임을 담보코드 데이터프레임과 병합하여 피벗테이블을 형성 </a:t>
            </a:r>
            <a:r>
              <a:rPr lang="ko-KR" altLang="en-US" dirty="0" err="1"/>
              <a:t>군집별</a:t>
            </a:r>
            <a:r>
              <a:rPr lang="ko-KR" altLang="en-US" dirty="0"/>
              <a:t> 얼마나 </a:t>
            </a:r>
            <a:r>
              <a:rPr lang="ko-KR" altLang="en-US" dirty="0" err="1"/>
              <a:t>갖고있는지</a:t>
            </a:r>
            <a:r>
              <a:rPr lang="ko-KR" altLang="en-US" dirty="0"/>
              <a:t> 파악가능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5590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 받은 정보를 가지고 생성된 새로운 고객 데이터의 클러스터를 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K-Means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모델을 통해 예측하고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en-US" altLang="ko-KR" sz="12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pivot_table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새로운 고객의 클러스터에 해당하는 담보코드들 중 카운트가 높은 순으로 고객의 추천을 해줌으로써 담보코드 영업의 타당성과 신뢰성을 향상시킬 수 있을 것이다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0641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5356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개선점 이슈 등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517CE-A1AD-48B7-8741-47DCDFED29E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494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4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46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24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79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9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67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1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07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64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00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46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2023-12-13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48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910FC87-39FD-D982-DA1D-F82AB170BA8E}"/>
              </a:ext>
            </a:extLst>
          </p:cNvPr>
          <p:cNvGrpSpPr/>
          <p:nvPr/>
        </p:nvGrpSpPr>
        <p:grpSpPr>
          <a:xfrm>
            <a:off x="10877818" y="186522"/>
            <a:ext cx="897876" cy="229536"/>
            <a:chOff x="10914582" y="216980"/>
            <a:chExt cx="998066" cy="25514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96D372E-3A19-2699-CFD7-8821D9680260}"/>
                </a:ext>
              </a:extLst>
            </p:cNvPr>
            <p:cNvSpPr/>
            <p:nvPr/>
          </p:nvSpPr>
          <p:spPr>
            <a:xfrm>
              <a:off x="10914582" y="222666"/>
              <a:ext cx="249462" cy="24946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en-US" altLang="ko-KR" sz="24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37BB55E-86A4-FBAD-EFA8-6062D5EDDE1C}"/>
                </a:ext>
              </a:extLst>
            </p:cNvPr>
            <p:cNvSpPr/>
            <p:nvPr/>
          </p:nvSpPr>
          <p:spPr>
            <a:xfrm>
              <a:off x="11289862" y="216980"/>
              <a:ext cx="249462" cy="24946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en-US" altLang="ko-KR" sz="24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F6E0DBE-298C-4C1A-BAD8-D4E3D8B493A2}"/>
                </a:ext>
              </a:extLst>
            </p:cNvPr>
            <p:cNvSpPr/>
            <p:nvPr/>
          </p:nvSpPr>
          <p:spPr>
            <a:xfrm>
              <a:off x="11663186" y="222667"/>
              <a:ext cx="249462" cy="24946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>
                <a:defRPr/>
              </a:pPr>
              <a:endParaRPr lang="en-US" altLang="ko-KR" sz="24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F68B81C-88DE-5361-73CA-6B4AD7C99F23}"/>
                </a:ext>
              </a:extLst>
            </p:cNvPr>
            <p:cNvSpPr/>
            <p:nvPr/>
          </p:nvSpPr>
          <p:spPr>
            <a:xfrm>
              <a:off x="11361623" y="289719"/>
              <a:ext cx="103983" cy="103983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F9D21A8-24A1-CE93-28C2-3A26863655BE}"/>
                </a:ext>
              </a:extLst>
            </p:cNvPr>
            <p:cNvSpPr/>
            <p:nvPr/>
          </p:nvSpPr>
          <p:spPr>
            <a:xfrm>
              <a:off x="10985313" y="390165"/>
              <a:ext cx="108000" cy="25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3DA6A9F-EFEE-2A1C-E79C-8FCE023BE2E4}"/>
                </a:ext>
              </a:extLst>
            </p:cNvPr>
            <p:cNvSpPr/>
            <p:nvPr/>
          </p:nvSpPr>
          <p:spPr>
            <a:xfrm rot="2700000">
              <a:off x="11718625" y="339486"/>
              <a:ext cx="144000" cy="25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D9B9082-D1F9-0F1B-B7D4-857DA19BC473}"/>
                </a:ext>
              </a:extLst>
            </p:cNvPr>
            <p:cNvSpPr/>
            <p:nvPr/>
          </p:nvSpPr>
          <p:spPr>
            <a:xfrm rot="18900000">
              <a:off x="11718624" y="336644"/>
              <a:ext cx="144000" cy="25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645F3CF-6108-70D6-5C9A-2A736D563929}"/>
              </a:ext>
            </a:extLst>
          </p:cNvPr>
          <p:cNvSpPr/>
          <p:nvPr/>
        </p:nvSpPr>
        <p:spPr>
          <a:xfrm>
            <a:off x="5226204" y="1541987"/>
            <a:ext cx="1739592" cy="30532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15875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/>
            </a:pPr>
            <a:r>
              <a:rPr lang="ko-KR" altLang="en-US" sz="1400" dirty="0" err="1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캡스톤</a:t>
            </a:r>
            <a:r>
              <a:rPr lang="ko-KR" altLang="en-US" sz="1400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디자인 </a:t>
            </a:r>
            <a:r>
              <a:rPr lang="en-US" altLang="ko-KR" sz="1400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sz="1400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AC35E-C9B5-1A06-EC1B-C2C4FA886764}"/>
              </a:ext>
            </a:extLst>
          </p:cNvPr>
          <p:cNvSpPr txBox="1"/>
          <p:nvPr/>
        </p:nvSpPr>
        <p:spPr>
          <a:xfrm>
            <a:off x="1584668" y="2116365"/>
            <a:ext cx="90226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1524000" algn="l"/>
                <a:tab pos="2419350" algn="l"/>
              </a:tabLst>
              <a:defRPr/>
            </a:pPr>
            <a:r>
              <a:rPr lang="ko-KR" altLang="en-US" sz="7200" b="1" kern="0" dirty="0">
                <a:ln w="15875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데이터 기반 </a:t>
            </a:r>
            <a:endParaRPr lang="en-US" altLang="ko-KR" sz="7200" b="1" kern="0" dirty="0">
              <a:ln w="15875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tabLst>
                <a:tab pos="1524000" algn="l"/>
                <a:tab pos="2419350" algn="l"/>
              </a:tabLst>
              <a:defRPr/>
            </a:pPr>
            <a:r>
              <a:rPr lang="ko-KR" altLang="en-US" sz="7200" b="1" kern="0" dirty="0">
                <a:ln w="15875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담보코드 추천 시스템</a:t>
            </a:r>
            <a:endParaRPr lang="en-US" altLang="ko-KR" sz="7200" b="1" kern="0" dirty="0">
              <a:ln w="15875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tabLst>
                <a:tab pos="1524000" algn="l"/>
                <a:tab pos="2419350" algn="l"/>
              </a:tabLst>
              <a:defRPr/>
            </a:pPr>
            <a:endParaRPr lang="en-US" altLang="ko-KR" sz="1600" kern="0" dirty="0">
              <a:ln w="15875"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tabLst>
                <a:tab pos="1524000" algn="l"/>
                <a:tab pos="2419350" algn="l"/>
              </a:tabLst>
              <a:defRPr/>
            </a:pPr>
            <a:endParaRPr lang="en-US" altLang="ko-KR" sz="1600" kern="0" dirty="0">
              <a:ln w="15875"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tabLst>
                <a:tab pos="1524000" algn="l"/>
                <a:tab pos="2419350" algn="l"/>
              </a:tabLst>
              <a:defRPr/>
            </a:pPr>
            <a:r>
              <a:rPr lang="ko-KR" altLang="en-US" sz="1600" kern="0" dirty="0">
                <a:ln w="158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</a:t>
            </a:r>
            <a:r>
              <a:rPr lang="en-US" altLang="ko-KR" sz="1600" kern="0" dirty="0">
                <a:ln w="158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</a:t>
            </a:r>
            <a:r>
              <a:rPr lang="ko-KR" altLang="en-US" sz="1600" kern="0" dirty="0">
                <a:ln w="158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담보코드 군집화</a:t>
            </a:r>
            <a:r>
              <a:rPr lang="en-US" altLang="ko-KR" sz="1600" kern="0" dirty="0">
                <a:ln w="158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(DBSCAN, Fuzzy, K-means)</a:t>
            </a:r>
            <a:r>
              <a:rPr lang="ko-KR" altLang="en-US" sz="1600" kern="0" dirty="0">
                <a:ln w="158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통한 담보코드 추천</a:t>
            </a:r>
            <a:endParaRPr lang="ko-KR" altLang="en-US" sz="4800" dirty="0">
              <a:solidFill>
                <a:prstClr val="black">
                  <a:lumMod val="50000"/>
                  <a:lumOff val="50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042F6-E004-F783-6276-7083D679B579}"/>
              </a:ext>
            </a:extLst>
          </p:cNvPr>
          <p:cNvSpPr txBox="1"/>
          <p:nvPr/>
        </p:nvSpPr>
        <p:spPr>
          <a:xfrm>
            <a:off x="10068168" y="5615294"/>
            <a:ext cx="1483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60160336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황승호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60191434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배정연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60191440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양지선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8C698-FCA1-6E00-89B9-ACAC43CCF869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344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en-US" altLang="ko-KR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Table of Contents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F744457F-3A6C-204C-1A22-5E7757F236F1}"/>
              </a:ext>
            </a:extLst>
          </p:cNvPr>
          <p:cNvSpPr/>
          <p:nvPr/>
        </p:nvSpPr>
        <p:spPr>
          <a:xfrm>
            <a:off x="1777075" y="4928352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04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018F177D-5D7A-B988-948F-A2DD49AC7B08}"/>
              </a:ext>
            </a:extLst>
          </p:cNvPr>
          <p:cNvSpPr/>
          <p:nvPr/>
        </p:nvSpPr>
        <p:spPr>
          <a:xfrm>
            <a:off x="1777075" y="3846646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03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5728034-BB6C-EB3E-B3EF-C1D370464E34}"/>
              </a:ext>
            </a:extLst>
          </p:cNvPr>
          <p:cNvSpPr/>
          <p:nvPr/>
        </p:nvSpPr>
        <p:spPr>
          <a:xfrm>
            <a:off x="1777075" y="2764941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02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AF9C34AE-9E7B-63D5-63CA-112C2D30E45C}"/>
              </a:ext>
            </a:extLst>
          </p:cNvPr>
          <p:cNvSpPr/>
          <p:nvPr/>
        </p:nvSpPr>
        <p:spPr>
          <a:xfrm>
            <a:off x="1777075" y="1683236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01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0A5D6DB-F4A9-EF2D-DC5C-A6F76F951435}"/>
              </a:ext>
            </a:extLst>
          </p:cNvPr>
          <p:cNvSpPr/>
          <p:nvPr/>
        </p:nvSpPr>
        <p:spPr>
          <a:xfrm>
            <a:off x="2772314" y="1840464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주제 선정 배경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0E63622-28B2-7369-BC15-4B5DC6A93B26}"/>
              </a:ext>
            </a:extLst>
          </p:cNvPr>
          <p:cNvSpPr/>
          <p:nvPr/>
        </p:nvSpPr>
        <p:spPr>
          <a:xfrm>
            <a:off x="2766599" y="5066312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</a:t>
            </a:r>
            <a:r>
              <a:rPr lang="ko-KR" alt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전처리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4F683A0-D2A9-DB1D-8D09-01E77A5813FE}"/>
              </a:ext>
            </a:extLst>
          </p:cNvPr>
          <p:cNvSpPr/>
          <p:nvPr/>
        </p:nvSpPr>
        <p:spPr>
          <a:xfrm>
            <a:off x="2766599" y="3983102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시각화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4DB3ED8-47BF-333B-4112-AE31E6F4655B}"/>
              </a:ext>
            </a:extLst>
          </p:cNvPr>
          <p:cNvSpPr/>
          <p:nvPr/>
        </p:nvSpPr>
        <p:spPr>
          <a:xfrm>
            <a:off x="2766599" y="2899423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사용데이터 소개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BB0D7CE8-0E7C-2995-8C2F-C9823763B3E9}"/>
              </a:ext>
            </a:extLst>
          </p:cNvPr>
          <p:cNvSpPr/>
          <p:nvPr/>
        </p:nvSpPr>
        <p:spPr>
          <a:xfrm>
            <a:off x="6795145" y="4927341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08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9BA42506-2BFC-69F2-603C-56337E93F1DB}"/>
              </a:ext>
            </a:extLst>
          </p:cNvPr>
          <p:cNvSpPr/>
          <p:nvPr/>
        </p:nvSpPr>
        <p:spPr>
          <a:xfrm>
            <a:off x="6795145" y="3845635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07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30D18E3-B888-DBEB-0E5B-05406514210B}"/>
              </a:ext>
            </a:extLst>
          </p:cNvPr>
          <p:cNvSpPr/>
          <p:nvPr/>
        </p:nvSpPr>
        <p:spPr>
          <a:xfrm>
            <a:off x="6795145" y="2763930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06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D581869-4C4E-4A24-25E5-7B8F3EF2D972}"/>
              </a:ext>
            </a:extLst>
          </p:cNvPr>
          <p:cNvSpPr/>
          <p:nvPr/>
        </p:nvSpPr>
        <p:spPr>
          <a:xfrm>
            <a:off x="6795145" y="1682225"/>
            <a:ext cx="798774" cy="810184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05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2E94719-2521-F645-F843-5F302987D1EB}"/>
              </a:ext>
            </a:extLst>
          </p:cNvPr>
          <p:cNvSpPr/>
          <p:nvPr/>
        </p:nvSpPr>
        <p:spPr>
          <a:xfrm>
            <a:off x="7835037" y="1850714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모델링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(DBSCAN)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DC318BE-7733-3A85-723D-297EA9316928}"/>
              </a:ext>
            </a:extLst>
          </p:cNvPr>
          <p:cNvSpPr/>
          <p:nvPr/>
        </p:nvSpPr>
        <p:spPr>
          <a:xfrm>
            <a:off x="7835037" y="2894633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모델링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(Fuzzy)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929FA0E-32A8-31A6-6788-D14C5D831266}"/>
              </a:ext>
            </a:extLst>
          </p:cNvPr>
          <p:cNvSpPr/>
          <p:nvPr/>
        </p:nvSpPr>
        <p:spPr>
          <a:xfrm>
            <a:off x="7835037" y="3983102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모델링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(K-means)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907B7173-6A06-C2C7-E5ED-E54E8A633D02}"/>
              </a:ext>
            </a:extLst>
          </p:cNvPr>
          <p:cNvSpPr/>
          <p:nvPr/>
        </p:nvSpPr>
        <p:spPr>
          <a:xfrm>
            <a:off x="7835037" y="5066312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결과 비교 및 결론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3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주제 선정 배경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D614CA76-F8D5-5FB3-51B6-0F556EFC77D6}"/>
              </a:ext>
            </a:extLst>
          </p:cNvPr>
          <p:cNvSpPr/>
          <p:nvPr/>
        </p:nvSpPr>
        <p:spPr>
          <a:xfrm>
            <a:off x="1147257" y="1477173"/>
            <a:ext cx="9882207" cy="21082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- 3 -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7C0535-E60D-CB2C-0F48-8A3DD2781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1876450"/>
            <a:ext cx="1058358" cy="105835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ED606B-0141-BEF7-5767-54A61FD3FFB4}"/>
              </a:ext>
            </a:extLst>
          </p:cNvPr>
          <p:cNvSpPr/>
          <p:nvPr/>
        </p:nvSpPr>
        <p:spPr>
          <a:xfrm>
            <a:off x="3021003" y="1709298"/>
            <a:ext cx="7361247" cy="171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수많은 보험상품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&amp;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-&gt;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설계사와 전문가의 도움 통해 계약</a:t>
            </a:r>
            <a:endParaRPr lang="en-US" altLang="ko-KR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일부 보험설계사 및 보험사에 의해 불필요함 보험 혹은 과한 보험료 </a:t>
            </a:r>
            <a:endParaRPr lang="en-US" altLang="ko-KR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가입 강요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-&gt;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소비자들의 소극적 보험 가입</a:t>
            </a:r>
            <a:endParaRPr lang="en-US" altLang="ko-KR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합리적인 보험 상품 추천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소극적 보험 가입 완화 및 보험 생태계 활성화</a:t>
            </a:r>
          </a:p>
        </p:txBody>
      </p:sp>
      <p:sp>
        <p:nvSpPr>
          <p:cNvPr id="19" name="모서리가 둥근 직사각형 10">
            <a:extLst>
              <a:ext uri="{FF2B5EF4-FFF2-40B4-BE49-F238E27FC236}">
                <a16:creationId xmlns:a16="http://schemas.microsoft.com/office/drawing/2014/main" id="{53AA4B0A-5531-A52D-3FBF-BD2017C0AC70}"/>
              </a:ext>
            </a:extLst>
          </p:cNvPr>
          <p:cNvSpPr/>
          <p:nvPr/>
        </p:nvSpPr>
        <p:spPr>
          <a:xfrm>
            <a:off x="1147256" y="3996932"/>
            <a:ext cx="6594663" cy="21082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6974D4-570B-CF44-4920-AF3E0DA7ECA8}"/>
              </a:ext>
            </a:extLst>
          </p:cNvPr>
          <p:cNvSpPr/>
          <p:nvPr/>
        </p:nvSpPr>
        <p:spPr>
          <a:xfrm>
            <a:off x="2583963" y="4189813"/>
            <a:ext cx="4030198" cy="171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이를 위한 군집화 모델링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가지 선정 </a:t>
            </a:r>
            <a:endParaRPr lang="en-US" altLang="ko-KR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DBSCAN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Fuzzy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K-means</a:t>
            </a:r>
            <a:endParaRPr lang="ko-KR" altLang="en-US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2046764-5069-F77E-1269-0E25095F4E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587" y="3932351"/>
            <a:ext cx="2115077" cy="21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88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사용 데이터 소개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- 4 -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8" name="그림 1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4D39AEA-6FE8-BDF7-B1B5-D1FA7076E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89" y="1432357"/>
            <a:ext cx="8621705" cy="421431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1" y="810610"/>
            <a:ext cx="2521142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계약정보 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12C840-C390-2501-D2EE-B08980EE6E5C}"/>
              </a:ext>
            </a:extLst>
          </p:cNvPr>
          <p:cNvSpPr/>
          <p:nvPr/>
        </p:nvSpPr>
        <p:spPr>
          <a:xfrm>
            <a:off x="9230291" y="1477412"/>
            <a:ext cx="2575815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id: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아이디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(PK)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birthday: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생년월일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gender: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성별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orgName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보험회사명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insuNum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증권번호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prodName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보험상품명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insuType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보험종류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insuStatus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주계약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상태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issueDate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보험가입일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payAmt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월 보험료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payCycle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납입 주기</a:t>
            </a:r>
          </a:p>
        </p:txBody>
      </p:sp>
    </p:spTree>
    <p:extLst>
      <p:ext uri="{BB962C8B-B14F-4D97-AF65-F5344CB8AC3E}">
        <p14:creationId xmlns:p14="http://schemas.microsoft.com/office/powerpoint/2010/main" val="615949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사용 데이터 소개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- 5 -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상품정보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</a:t>
            </a:r>
            <a:r>
              <a:rPr lang="ko-KR" alt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정상외보험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12C840-C390-2501-D2EE-B08980EE6E5C}"/>
              </a:ext>
            </a:extLst>
          </p:cNvPr>
          <p:cNvSpPr/>
          <p:nvPr/>
        </p:nvSpPr>
        <p:spPr>
          <a:xfrm>
            <a:off x="9230291" y="1477412"/>
            <a:ext cx="2575815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id: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아이디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(PK)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birthday: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생년월일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gender: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성별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orgName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보험회사명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insuNum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증권번호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prodName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보험상품명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insuType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보험종류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insuStatus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주계약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상태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issueDate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보험가입일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payAmt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월 보험료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payCycle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납입 주기</a:t>
            </a:r>
          </a:p>
        </p:txBody>
      </p:sp>
      <p:pic>
        <p:nvPicPr>
          <p:cNvPr id="15" name="그림 1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0A3BF0A6-3415-97FC-B258-AD781A491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95" y="1476667"/>
            <a:ext cx="8738896" cy="412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86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사용 데이터 소개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- 6 -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건강정보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12C840-C390-2501-D2EE-B08980EE6E5C}"/>
              </a:ext>
            </a:extLst>
          </p:cNvPr>
          <p:cNvSpPr/>
          <p:nvPr/>
        </p:nvSpPr>
        <p:spPr>
          <a:xfrm>
            <a:off x="7289731" y="1683535"/>
            <a:ext cx="3916551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customer_id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아이디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(PK)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type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암 종류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incidence: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수치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rate: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위험도 등급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(5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단계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cancer_10_year: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최근 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10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년간 발생률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6" name="그림 1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1F3E46F-CC25-99F7-EA98-0053A582C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71" y="1423986"/>
            <a:ext cx="5763745" cy="4757752"/>
          </a:xfrm>
          <a:prstGeom prst="rect">
            <a:avLst/>
          </a:prstGeom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2059DDC-0057-7FCC-EC98-61AB51B46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656444"/>
              </p:ext>
            </p:extLst>
          </p:nvPr>
        </p:nvGraphicFramePr>
        <p:xfrm>
          <a:off x="7289731" y="3850108"/>
          <a:ext cx="370714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3570">
                  <a:extLst>
                    <a:ext uri="{9D8B030D-6E8A-4147-A177-3AD203B41FA5}">
                      <a16:colId xmlns:a16="http://schemas.microsoft.com/office/drawing/2014/main" val="3919403232"/>
                    </a:ext>
                  </a:extLst>
                </a:gridCol>
                <a:gridCol w="1853570">
                  <a:extLst>
                    <a:ext uri="{9D8B030D-6E8A-4147-A177-3AD203B41FA5}">
                      <a16:colId xmlns:a16="http://schemas.microsoft.com/office/drawing/2014/main" val="3038175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blca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방광암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ovca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난소암</a:t>
                      </a:r>
                      <a:endParaRPr lang="ko-KR" altLang="en-US" sz="16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97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brca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유방암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paca: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췌장암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coca: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대장암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prca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전립선암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359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gaca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위암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thca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갑상선암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56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lica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간암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utca</a:t>
                      </a:r>
                      <a:r>
                        <a:rPr lang="en-US" altLang="ko-KR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자궁암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37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346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사용 데이터 소개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- 7 -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고객보장정보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12C840-C390-2501-D2EE-B08980EE6E5C}"/>
              </a:ext>
            </a:extLst>
          </p:cNvPr>
          <p:cNvSpPr/>
          <p:nvPr/>
        </p:nvSpPr>
        <p:spPr>
          <a:xfrm>
            <a:off x="8811867" y="1426511"/>
            <a:ext cx="310017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id: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아이디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(PK)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성별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성별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연령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연령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insuNum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증권번호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proName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보험상품명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status: </a:t>
            </a: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주계약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상태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coverageCode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담보코드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type: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담보특성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coverageNum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담보일련번호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coverageName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회사담보명</a:t>
            </a:r>
            <a:endParaRPr lang="en-US" altLang="ko-KR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coverageAmt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보장금액</a:t>
            </a:r>
          </a:p>
        </p:txBody>
      </p:sp>
      <p:pic>
        <p:nvPicPr>
          <p:cNvPr id="16" name="그림 1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14CA1E0B-0518-9B1B-58C0-86E98E4D6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0" y="1476667"/>
            <a:ext cx="8183656" cy="40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7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시각화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- 8 -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나이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성별 분포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도표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E2FC1F2A-1326-EBA3-08F2-E39453611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0" y="1664989"/>
            <a:ext cx="5428803" cy="3571436"/>
          </a:xfrm>
          <a:prstGeom prst="rect">
            <a:avLst/>
          </a:prstGeom>
        </p:spPr>
      </p:pic>
      <p:pic>
        <p:nvPicPr>
          <p:cNvPr id="17" name="그림 16" descr="텍스트, 스크린샷, 직사각형, 도표이(가) 표시된 사진&#10;&#10;자동 생성된 설명">
            <a:extLst>
              <a:ext uri="{FF2B5EF4-FFF2-40B4-BE49-F238E27FC236}">
                <a16:creationId xmlns:a16="http://schemas.microsoft.com/office/drawing/2014/main" id="{9F0520BC-AC13-0C04-E160-00A9BC6B8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75398"/>
            <a:ext cx="5446130" cy="361394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C65459-08B6-CE1E-3899-C4EDA98C667C}"/>
              </a:ext>
            </a:extLst>
          </p:cNvPr>
          <p:cNvSpPr/>
          <p:nvPr/>
        </p:nvSpPr>
        <p:spPr>
          <a:xfrm>
            <a:off x="1406553" y="5520049"/>
            <a:ext cx="9435893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데이터 중 나이는 주로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40-50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세에 많이 분포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데이터 중 성별은 남성이 더 많이 분포</a:t>
            </a:r>
          </a:p>
        </p:txBody>
      </p:sp>
    </p:spTree>
    <p:extLst>
      <p:ext uri="{BB962C8B-B14F-4D97-AF65-F5344CB8AC3E}">
        <p14:creationId xmlns:p14="http://schemas.microsoft.com/office/powerpoint/2010/main" val="371871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시각화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- 9 -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월 보험료 통계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라인, 번호, 스크린샷이(가) 표시된 사진&#10;&#10;자동 생성된 설명">
            <a:extLst>
              <a:ext uri="{FF2B5EF4-FFF2-40B4-BE49-F238E27FC236}">
                <a16:creationId xmlns:a16="http://schemas.microsoft.com/office/drawing/2014/main" id="{690A7954-7C88-63BF-2AD0-3C6C1E812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962" y="1189349"/>
            <a:ext cx="6776030" cy="467602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AD5F77-EEAF-E4C8-534E-F249BF97021C}"/>
              </a:ext>
            </a:extLst>
          </p:cNvPr>
          <p:cNvSpPr/>
          <p:nvPr/>
        </p:nvSpPr>
        <p:spPr>
          <a:xfrm>
            <a:off x="1026367" y="5865370"/>
            <a:ext cx="10515763" cy="88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월 보험료의 통계수치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평균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57,473.36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최솟값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0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제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1</a:t>
            </a:r>
            <a:r>
              <a:rPr lang="ko-KR" alt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분위수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28,457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중위값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44,476.10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제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분위수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71,721.25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최댓값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2,008,700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371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시각화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- 10 -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담보코드 파악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도표, 직사각형이(가) 표시된 사진&#10;&#10;자동 생성된 설명">
            <a:extLst>
              <a:ext uri="{FF2B5EF4-FFF2-40B4-BE49-F238E27FC236}">
                <a16:creationId xmlns:a16="http://schemas.microsoft.com/office/drawing/2014/main" id="{A8A625E8-3D2D-C60C-646F-C3009185A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12" y="1283816"/>
            <a:ext cx="8199976" cy="466981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363594-7C64-5897-0C80-84995D81F8E7}"/>
              </a:ext>
            </a:extLst>
          </p:cNvPr>
          <p:cNvSpPr/>
          <p:nvPr/>
        </p:nvSpPr>
        <p:spPr>
          <a:xfrm>
            <a:off x="1026367" y="6011304"/>
            <a:ext cx="10515763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담보코드의 범주는 총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185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개이며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데이터는 이 중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A5199, A5999, A4199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순으로 가장 많은 분포를 띔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162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시각화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- 11 -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건강위험도 등급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6" name="그림 15" descr="텍스트, 도표, 라인, 평행이(가) 표시된 사진&#10;&#10;자동 생성된 설명">
            <a:extLst>
              <a:ext uri="{FF2B5EF4-FFF2-40B4-BE49-F238E27FC236}">
                <a16:creationId xmlns:a16="http://schemas.microsoft.com/office/drawing/2014/main" id="{7DA6F3B8-2766-C90B-4E00-61F1EFB09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962" y="1312721"/>
            <a:ext cx="6541101" cy="465679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841FAA-7CB6-BB7E-7699-E35CF6FA68D9}"/>
              </a:ext>
            </a:extLst>
          </p:cNvPr>
          <p:cNvSpPr/>
          <p:nvPr/>
        </p:nvSpPr>
        <p:spPr>
          <a:xfrm>
            <a:off x="1138577" y="5970125"/>
            <a:ext cx="10515763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건강정보 데이터 중 고객별 평균 건강 위험도는 주로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1.3 ~ 2.05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많이 분포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일부 데이터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3.0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이상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52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전처리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- 12 -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계약정보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EDA7CD91-7D0D-AFF7-5D61-F4055CFE0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84" y="1701567"/>
            <a:ext cx="7985598" cy="3744191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EF8FD82B-2FAE-6C44-DA48-CE870BF8E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424" y="2908434"/>
            <a:ext cx="3759900" cy="1674408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65692A4E-A1BC-B1B3-D020-D5972B04D010}"/>
              </a:ext>
            </a:extLst>
          </p:cNvPr>
          <p:cNvSpPr/>
          <p:nvPr/>
        </p:nvSpPr>
        <p:spPr>
          <a:xfrm>
            <a:off x="6418372" y="3418068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04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전처리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- 13 -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상품정보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</a:t>
            </a:r>
            <a:r>
              <a:rPr lang="ko-KR" altLang="en-US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정상외보험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34B7BF3-4F3D-FEF8-C531-1EE3F4DF1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0" y="1730921"/>
            <a:ext cx="8969517" cy="3505504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31CCB72-8E24-EBCE-6A86-B0E09EA05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428" y="2508857"/>
            <a:ext cx="3989122" cy="1840285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374F720-7699-1183-1380-15FDD8BBDCE7}"/>
              </a:ext>
            </a:extLst>
          </p:cNvPr>
          <p:cNvSpPr/>
          <p:nvPr/>
        </p:nvSpPr>
        <p:spPr>
          <a:xfrm>
            <a:off x="6263588" y="3144727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319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전처리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- 14 -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1&amp;2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병합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02CE0FFF-A85F-5F09-EA79-B1E55E68A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17" y="1418988"/>
            <a:ext cx="4967887" cy="1120502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35AC795-10E1-CCEE-004D-49A0B7A60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862" y="1060938"/>
            <a:ext cx="3791347" cy="1836602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D867D44-F17F-F75F-21DC-C29871071405}"/>
              </a:ext>
            </a:extLst>
          </p:cNvPr>
          <p:cNvSpPr/>
          <p:nvPr/>
        </p:nvSpPr>
        <p:spPr>
          <a:xfrm>
            <a:off x="5809543" y="1694967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3" name="그림 2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39A845EC-EB53-6822-5D98-7FC59FB9F3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56" y="3206496"/>
            <a:ext cx="3438585" cy="2948332"/>
          </a:xfrm>
          <a:prstGeom prst="rect">
            <a:avLst/>
          </a:prstGeom>
          <a:ln w="28575">
            <a:solidFill>
              <a:srgbClr val="DAE3F3"/>
            </a:solidFill>
          </a:ln>
        </p:spPr>
      </p:pic>
      <p:pic>
        <p:nvPicPr>
          <p:cNvPr id="27" name="그림 2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A6D66B6-79F9-E166-4CFF-4731327EF0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58" y="3278328"/>
            <a:ext cx="3376051" cy="2859714"/>
          </a:xfrm>
          <a:prstGeom prst="rect">
            <a:avLst/>
          </a:prstGeom>
          <a:ln w="28575">
            <a:solidFill>
              <a:srgbClr val="DAE3F3"/>
            </a:solidFill>
          </a:ln>
        </p:spPr>
      </p:pic>
      <p:pic>
        <p:nvPicPr>
          <p:cNvPr id="29" name="그림 28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7F95F1B2-13C6-1D90-0DB0-41D83ABBF0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642" y="3219789"/>
            <a:ext cx="3742317" cy="3163236"/>
          </a:xfrm>
          <a:prstGeom prst="rect">
            <a:avLst/>
          </a:prstGeom>
          <a:ln w="28575">
            <a:solidFill>
              <a:srgbClr val="DAE3F3"/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F5B640A5-3E70-C109-9529-FF5756E6C572}"/>
              </a:ext>
            </a:extLst>
          </p:cNvPr>
          <p:cNvSpPr/>
          <p:nvPr/>
        </p:nvSpPr>
        <p:spPr>
          <a:xfrm>
            <a:off x="1756333" y="2755047"/>
            <a:ext cx="1279257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계약정보</a:t>
            </a:r>
            <a:endParaRPr lang="ko-KR" altLang="en-US" sz="10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5618B28-0691-A731-B8CB-3B655FE5F81C}"/>
              </a:ext>
            </a:extLst>
          </p:cNvPr>
          <p:cNvSpPr/>
          <p:nvPr/>
        </p:nvSpPr>
        <p:spPr>
          <a:xfrm>
            <a:off x="4919339" y="2772486"/>
            <a:ext cx="1919487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상품정보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</a:t>
            </a:r>
            <a:r>
              <a:rPr lang="ko-KR" altLang="en-US" sz="14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정상외보험</a:t>
            </a:r>
            <a:endParaRPr lang="ko-KR" altLang="en-US" sz="10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D79D68-FF41-6F1A-3E06-0986509D8FDB}"/>
              </a:ext>
            </a:extLst>
          </p:cNvPr>
          <p:cNvSpPr/>
          <p:nvPr/>
        </p:nvSpPr>
        <p:spPr>
          <a:xfrm>
            <a:off x="9439521" y="2830542"/>
            <a:ext cx="667465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병합</a:t>
            </a:r>
            <a:endParaRPr lang="ko-KR" altLang="en-US" sz="10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B93DF83-CA43-10DC-23FC-00000FB8C0DC}"/>
              </a:ext>
            </a:extLst>
          </p:cNvPr>
          <p:cNvSpPr/>
          <p:nvPr/>
        </p:nvSpPr>
        <p:spPr>
          <a:xfrm>
            <a:off x="3421564" y="2757108"/>
            <a:ext cx="1279257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endParaRPr lang="ko-KR" altLang="en-US" sz="10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654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전처리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- 15 -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건강정보 </a:t>
            </a: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&amp;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병합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CC87EA4-6895-65E5-CC27-B657661C0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0" y="1435206"/>
            <a:ext cx="5445787" cy="3987588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EFB91A1-39D0-55F7-30B4-91ECBE12B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046" y="3969797"/>
            <a:ext cx="1425063" cy="2568163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B6C9CA-52AE-CA60-6535-530B86B8F9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612" y="1535726"/>
            <a:ext cx="5303980" cy="502964"/>
          </a:xfrm>
          <a:prstGeom prst="rect">
            <a:avLst/>
          </a:prstGeom>
          <a:ln w="28575">
            <a:solidFill>
              <a:srgbClr val="DAE3F3"/>
            </a:solidFill>
          </a:ln>
        </p:spPr>
      </p:pic>
      <p:pic>
        <p:nvPicPr>
          <p:cNvPr id="22" name="그림 2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FF90E61-CC3F-8483-6A47-EE8F26858C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54" y="3908832"/>
            <a:ext cx="5448772" cy="2629128"/>
          </a:xfrm>
          <a:prstGeom prst="rect">
            <a:avLst/>
          </a:prstGeom>
          <a:ln w="19050">
            <a:solidFill>
              <a:srgbClr val="DAE3F3"/>
            </a:solidFill>
          </a:ln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40E96595-2B43-38F5-D5C6-E46135DB76C2}"/>
              </a:ext>
            </a:extLst>
          </p:cNvPr>
          <p:cNvSpPr/>
          <p:nvPr/>
        </p:nvSpPr>
        <p:spPr>
          <a:xfrm>
            <a:off x="1711976" y="5138522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AFB7371-5D0B-3C91-5BC5-38B934ED06C6}"/>
              </a:ext>
            </a:extLst>
          </p:cNvPr>
          <p:cNvSpPr/>
          <p:nvPr/>
        </p:nvSpPr>
        <p:spPr>
          <a:xfrm rot="5400000">
            <a:off x="8357203" y="2664896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81D5E8-E7E6-459D-0C22-ACD98077842B}"/>
              </a:ext>
            </a:extLst>
          </p:cNvPr>
          <p:cNvSpPr/>
          <p:nvPr/>
        </p:nvSpPr>
        <p:spPr>
          <a:xfrm>
            <a:off x="8724869" y="941961"/>
            <a:ext cx="667465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병합</a:t>
            </a:r>
            <a:endParaRPr lang="ko-KR" altLang="en-US" sz="10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536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전처리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- 10 -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 보장정보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76F71A63-0DF8-F248-4584-E2D8219B9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12" y="1577749"/>
            <a:ext cx="10729890" cy="2339543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86B89CC-231F-A387-8173-EBF4AA2FF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926" y="3024748"/>
            <a:ext cx="2512203" cy="3629730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E8959C5-C1D2-9816-F3DA-E4635973EBEB}"/>
              </a:ext>
            </a:extLst>
          </p:cNvPr>
          <p:cNvSpPr/>
          <p:nvPr/>
        </p:nvSpPr>
        <p:spPr>
          <a:xfrm>
            <a:off x="2141653" y="4245893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1" name="그림 2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357D35D0-6744-ACAB-E3C9-82FB8B606F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424" y="4063839"/>
            <a:ext cx="3338250" cy="2549307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</p:spTree>
    <p:extLst>
      <p:ext uri="{BB962C8B-B14F-4D97-AF65-F5344CB8AC3E}">
        <p14:creationId xmlns:p14="http://schemas.microsoft.com/office/powerpoint/2010/main" val="57076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전처리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- 17 -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스케일링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2638A50F-8695-5ECA-18A5-78CF10599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62" y="1577497"/>
            <a:ext cx="4056426" cy="1360287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3709D707-4B65-4B93-644C-8AA70BD91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726" y="1533677"/>
            <a:ext cx="6187976" cy="1447925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469610A8-75A7-76A2-89A7-078923AF5C6F}"/>
              </a:ext>
            </a:extLst>
          </p:cNvPr>
          <p:cNvSpPr/>
          <p:nvPr/>
        </p:nvSpPr>
        <p:spPr>
          <a:xfrm>
            <a:off x="4180228" y="1973367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모서리가 둥근 직사각형 10">
            <a:extLst>
              <a:ext uri="{FF2B5EF4-FFF2-40B4-BE49-F238E27FC236}">
                <a16:creationId xmlns:a16="http://schemas.microsoft.com/office/drawing/2014/main" id="{5CCD3E6F-A6CB-89C2-B550-246420CFE47A}"/>
              </a:ext>
            </a:extLst>
          </p:cNvPr>
          <p:cNvSpPr/>
          <p:nvPr/>
        </p:nvSpPr>
        <p:spPr>
          <a:xfrm>
            <a:off x="1174933" y="3704733"/>
            <a:ext cx="9882207" cy="24817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5F2FFED-E5A3-819A-228C-3A4D29C52C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68" y="4222716"/>
            <a:ext cx="1057787" cy="105778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4662DE-42FC-D2DC-D491-58B2A5CD6C37}"/>
              </a:ext>
            </a:extLst>
          </p:cNvPr>
          <p:cNvSpPr/>
          <p:nvPr/>
        </p:nvSpPr>
        <p:spPr>
          <a:xfrm>
            <a:off x="2924855" y="4048010"/>
            <a:ext cx="7742247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간 스케일이 다르면 거리 측정에서 스케일이 큰 특성이 더 큰 영향을 미치므로 특성 간의 스케일을 일정하게 조절한다면 모든 특성이 군집화에 고르게 기여 가능하고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이상치 값들의 영향을 감소시킨다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StandardScaler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각 특성에 대해 평균을 빼고 표준편차로 나누어 표준 정규 분포로 변환한다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변환 된 값은 평균이 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이고 표준편차가 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 분포를 따른다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9539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전처리</a:t>
              </a:r>
              <a:endParaRPr lang="ko-KR" altLang="en-US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- 18 -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3238994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6. PCA(Fuzzy, K-means)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F76E715C-AD1B-4EAB-764A-1FD97772A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1553497"/>
            <a:ext cx="5134060" cy="1534737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B734980-9586-E2E0-F558-68D76318B5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675"/>
          <a:stretch/>
        </p:blipFill>
        <p:spPr>
          <a:xfrm>
            <a:off x="8777445" y="1283816"/>
            <a:ext cx="2103302" cy="2068905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2C90C4D-D6A2-803B-4212-87580E4490E3}"/>
              </a:ext>
            </a:extLst>
          </p:cNvPr>
          <p:cNvSpPr/>
          <p:nvPr/>
        </p:nvSpPr>
        <p:spPr>
          <a:xfrm>
            <a:off x="6767475" y="2036593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모서리가 둥근 직사각형 10">
            <a:extLst>
              <a:ext uri="{FF2B5EF4-FFF2-40B4-BE49-F238E27FC236}">
                <a16:creationId xmlns:a16="http://schemas.microsoft.com/office/drawing/2014/main" id="{1372181C-652A-ECCA-043D-F1F3883044C8}"/>
              </a:ext>
            </a:extLst>
          </p:cNvPr>
          <p:cNvSpPr/>
          <p:nvPr/>
        </p:nvSpPr>
        <p:spPr>
          <a:xfrm>
            <a:off x="1208235" y="3769071"/>
            <a:ext cx="9882207" cy="234069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99E3F42-C725-FD5C-F588-6CD9E5532F08}"/>
              </a:ext>
            </a:extLst>
          </p:cNvPr>
          <p:cNvSpPr/>
          <p:nvPr/>
        </p:nvSpPr>
        <p:spPr>
          <a:xfrm>
            <a:off x="1655797" y="4138326"/>
            <a:ext cx="8920480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주성분 분석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(Principal Component Analysis, PCA)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수행하는 이유는 데이터의 차원을 축소하고 주요한 정보를 추출하여 데이터를 더 효과적으로 다룰 수 있도록 하는 것이다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PCA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데이터를 </a:t>
            </a: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저차원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공간으로 투영함으로써 데이터를 </a:t>
            </a: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시각화하는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데에도 활용된다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2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차원 또는 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차원으로 축소된 데이터는 쉽게 </a:t>
            </a:r>
            <a:r>
              <a:rPr lang="ko-KR" altLang="en-US" sz="1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시각화할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수 있어 데이터의 패턴이나 군집을 파악하기 용이하다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16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7762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- 19 -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DBSCAN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3ED50EEE-3D55-6EE8-DB09-267D62308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0" y="1558508"/>
            <a:ext cx="8001693" cy="2187130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23E854B3-DA6E-38EF-50D7-367F64658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277" y="1095002"/>
            <a:ext cx="2453853" cy="5342083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21" name="모서리가 둥근 직사각형 10">
            <a:extLst>
              <a:ext uri="{FF2B5EF4-FFF2-40B4-BE49-F238E27FC236}">
                <a16:creationId xmlns:a16="http://schemas.microsoft.com/office/drawing/2014/main" id="{AA6A1D1E-F262-86BE-1928-1AE7FD47E27B}"/>
              </a:ext>
            </a:extLst>
          </p:cNvPr>
          <p:cNvSpPr/>
          <p:nvPr/>
        </p:nvSpPr>
        <p:spPr>
          <a:xfrm>
            <a:off x="771725" y="4102262"/>
            <a:ext cx="7880042" cy="1945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03AFD71-7711-2256-1CFC-CA4D503523F6}"/>
              </a:ext>
            </a:extLst>
          </p:cNvPr>
          <p:cNvSpPr/>
          <p:nvPr/>
        </p:nvSpPr>
        <p:spPr>
          <a:xfrm>
            <a:off x="7984663" y="2187194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931484-1353-1E1F-B2CB-5484ECED7B99}"/>
              </a:ext>
            </a:extLst>
          </p:cNvPr>
          <p:cNvSpPr/>
          <p:nvPr/>
        </p:nvSpPr>
        <p:spPr>
          <a:xfrm>
            <a:off x="1149195" y="4212450"/>
            <a:ext cx="7109926" cy="1681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DBSCAN(Density-Based Spatial Clustering of Applications with Noise)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밀도 기반 클러스터링 알고리즘으로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데이터의 밀도를 기반으로 군집을 형성하는 데에 사용한다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클러스터는 데이터 밀도가 높은 부분으로 정의되며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포인트 간의 최소 거리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(epsilon, ε)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내에 다른 데이터 포인트가 몇 개 있는지에 따라 결정된다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14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3916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- 20 -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DBSCAN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80EA9D0-7887-89C8-6388-CCE76227E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4" y="1606601"/>
            <a:ext cx="7026249" cy="3814485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다채로움, 그래프이(가) 표시된 사진&#10;&#10;자동 생성된 설명">
            <a:extLst>
              <a:ext uri="{FF2B5EF4-FFF2-40B4-BE49-F238E27FC236}">
                <a16:creationId xmlns:a16="http://schemas.microsoft.com/office/drawing/2014/main" id="{01B5750D-A9C2-7CAE-8A07-FEBA16388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536" y="1101862"/>
            <a:ext cx="8239686" cy="5474691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</p:spTree>
    <p:extLst>
      <p:ext uri="{BB962C8B-B14F-4D97-AF65-F5344CB8AC3E}">
        <p14:creationId xmlns:p14="http://schemas.microsoft.com/office/powerpoint/2010/main" val="342059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- 21 -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DBSCAN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6" name="그림 1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2902E32-2953-70DE-460E-446E03875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3" y="1420956"/>
            <a:ext cx="10531753" cy="4016088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0" name="그림 19" descr="텍스트, 영수증, 폰트, 대수학이(가) 표시된 사진&#10;&#10;자동 생성된 설명">
            <a:extLst>
              <a:ext uri="{FF2B5EF4-FFF2-40B4-BE49-F238E27FC236}">
                <a16:creationId xmlns:a16="http://schemas.microsoft.com/office/drawing/2014/main" id="{201F51E2-F1A6-B257-BC47-9C293FB71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036" y="1715567"/>
            <a:ext cx="3779848" cy="1806097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C7ECCD0-E528-FF64-8781-7C775FEE64DF}"/>
              </a:ext>
            </a:extLst>
          </p:cNvPr>
          <p:cNvSpPr/>
          <p:nvPr/>
        </p:nvSpPr>
        <p:spPr>
          <a:xfrm>
            <a:off x="5645514" y="2439121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모서리가 둥근 직사각형 10">
            <a:extLst>
              <a:ext uri="{FF2B5EF4-FFF2-40B4-BE49-F238E27FC236}">
                <a16:creationId xmlns:a16="http://schemas.microsoft.com/office/drawing/2014/main" id="{2E79D173-CF54-5253-D335-09B519827B46}"/>
              </a:ext>
            </a:extLst>
          </p:cNvPr>
          <p:cNvSpPr/>
          <p:nvPr/>
        </p:nvSpPr>
        <p:spPr>
          <a:xfrm>
            <a:off x="1244443" y="5609186"/>
            <a:ext cx="10297687" cy="9901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400" dirty="0"/>
              <a:t>담보 코드를 출력할 수 있게 하였습니다</a:t>
            </a:r>
            <a:r>
              <a:rPr lang="en-US" altLang="ko-KR" sz="1400" dirty="0"/>
              <a:t>.</a:t>
            </a: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3499A7-37F5-11FD-F1B6-2E283A9EC854}"/>
              </a:ext>
            </a:extLst>
          </p:cNvPr>
          <p:cNvSpPr/>
          <p:nvPr/>
        </p:nvSpPr>
        <p:spPr>
          <a:xfrm>
            <a:off x="1635759" y="5586835"/>
            <a:ext cx="9393705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표준화된 데이터에 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DBSCAN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클러스터링을 적용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-&gt;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클러스터링 결과를 바탕으로 각 클러스터별 선호하는 담보 코드를 분석하고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클러스터의 개수는 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DBSCAN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eps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통해 지나치게 많지 않게 생성했다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고객의 정보를 </a:t>
            </a:r>
            <a:r>
              <a:rPr lang="ko-KR" altLang="en-US" sz="14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입력받으면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선호 담보 코드를 출력할 수 있게 만들었다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14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777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- 22 -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Fuzzy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A1E1ED8-DE51-052E-302C-59A779B60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037" y="1127283"/>
            <a:ext cx="5565236" cy="5236710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pic>
        <p:nvPicPr>
          <p:cNvPr id="17" name="그림 1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D6577E6-7778-707A-239E-958216F63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08" y="1423986"/>
            <a:ext cx="5223890" cy="4653386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D45C009-DFCA-FC6A-D211-2EF713A5FC83}"/>
              </a:ext>
            </a:extLst>
          </p:cNvPr>
          <p:cNvSpPr/>
          <p:nvPr/>
        </p:nvSpPr>
        <p:spPr>
          <a:xfrm>
            <a:off x="5222738" y="3144728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4827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- 23 -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Fuzzy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F0A68BF4-8D05-EFD5-8065-F13E74FF2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18" y="1406004"/>
            <a:ext cx="4389500" cy="1082134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도표, 그래프, 라인이(가) 표시된 사진&#10;&#10;자동 생성된 설명">
            <a:extLst>
              <a:ext uri="{FF2B5EF4-FFF2-40B4-BE49-F238E27FC236}">
                <a16:creationId xmlns:a16="http://schemas.microsoft.com/office/drawing/2014/main" id="{84DF6910-3B5D-9938-7DE4-C3E3D369B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28" y="2597296"/>
            <a:ext cx="4990280" cy="3667275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pic>
        <p:nvPicPr>
          <p:cNvPr id="20" name="그림 1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56429D6-F09D-FA40-39B8-D36A82CCB3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98" y="2699976"/>
            <a:ext cx="4892464" cy="3520745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2" name="그림 21" descr="텍스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A214B04E-0004-5982-76C5-E73ED61747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64" y="2631686"/>
            <a:ext cx="4762347" cy="3736611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F403C25-18AA-E6C8-AF6A-1C2118000E8B}"/>
              </a:ext>
            </a:extLst>
          </p:cNvPr>
          <p:cNvSpPr/>
          <p:nvPr/>
        </p:nvSpPr>
        <p:spPr>
          <a:xfrm>
            <a:off x="5516908" y="4176076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모서리가 둥근 직사각형 10">
            <a:extLst>
              <a:ext uri="{FF2B5EF4-FFF2-40B4-BE49-F238E27FC236}">
                <a16:creationId xmlns:a16="http://schemas.microsoft.com/office/drawing/2014/main" id="{E0F99D10-3DBA-DEF2-FC36-C3595E8E4740}"/>
              </a:ext>
            </a:extLst>
          </p:cNvPr>
          <p:cNvSpPr/>
          <p:nvPr/>
        </p:nvSpPr>
        <p:spPr>
          <a:xfrm>
            <a:off x="6044314" y="974556"/>
            <a:ext cx="5163058" cy="1455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E7F240-919A-4217-B7A7-EA7A59A1E957}"/>
              </a:ext>
            </a:extLst>
          </p:cNvPr>
          <p:cNvSpPr/>
          <p:nvPr/>
        </p:nvSpPr>
        <p:spPr>
          <a:xfrm>
            <a:off x="6338090" y="990872"/>
            <a:ext cx="4530584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Fuzzy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군집화는 각 데이터 포인트가 여러 군집에 동시에 속할 수 있는 모델을 의미한다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이는 데이터포인트와 군집 간의 멤버십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4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소속성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확률이나 가중치로 표현하며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데이터가 군집에 속할 확률을 계산할 수 있다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14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825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- 24 -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Fuzzy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527C362-846E-6E7A-BDDB-2534A17F7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0" y="1510469"/>
            <a:ext cx="6297784" cy="3837061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9D1F3D1-00F5-148F-BD46-11D613F40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399" y="2194974"/>
            <a:ext cx="3977985" cy="2667231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4AD6BD5A-385C-3FFF-9B4E-594439B525EE}"/>
              </a:ext>
            </a:extLst>
          </p:cNvPr>
          <p:cNvSpPr/>
          <p:nvPr/>
        </p:nvSpPr>
        <p:spPr>
          <a:xfrm>
            <a:off x="5970026" y="3144727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2989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- 25 -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Fuzzy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AF5AA2-0186-7FB1-5011-FC68FF3FA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41" y="1452338"/>
            <a:ext cx="6492803" cy="609653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0" name="그림 19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AA07D8C-1463-4680-D639-AF0E3D32A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2" y="2279278"/>
            <a:ext cx="6820491" cy="2057578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82D7956-3CEF-9E7F-F96E-837A3886AA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45" y="4598881"/>
            <a:ext cx="4930567" cy="586791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64" name="그림 6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8A7BCD6-FC96-0D06-F0C5-5978838A51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158" y="2164383"/>
            <a:ext cx="3924640" cy="4077053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</p:spTree>
    <p:extLst>
      <p:ext uri="{BB962C8B-B14F-4D97-AF65-F5344CB8AC3E}">
        <p14:creationId xmlns:p14="http://schemas.microsoft.com/office/powerpoint/2010/main" val="3770106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- 26 -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Fuzzy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8" name="그림 17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00D814CF-C31A-8992-AC09-316B00A4E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293" y="3790925"/>
            <a:ext cx="3177815" cy="624894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7" name="그림 26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74E6F5A8-7498-AC2B-2269-681CC9866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69" y="1424537"/>
            <a:ext cx="5062782" cy="4622853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11524BF-79DC-CB1E-807E-71FFAC318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371" y="6000539"/>
            <a:ext cx="8096164" cy="307937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pic>
        <p:nvPicPr>
          <p:cNvPr id="15" name="그림 14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ED5F30B7-F68D-21D8-431F-A06CD927F2F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95"/>
          <a:stretch/>
        </p:blipFill>
        <p:spPr>
          <a:xfrm>
            <a:off x="5390605" y="992888"/>
            <a:ext cx="2307150" cy="3840234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76E75668-8167-D00A-CC1F-72BE4BB2532E}"/>
              </a:ext>
            </a:extLst>
          </p:cNvPr>
          <p:cNvSpPr/>
          <p:nvPr/>
        </p:nvSpPr>
        <p:spPr>
          <a:xfrm>
            <a:off x="3911692" y="2757360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A9431869-66F7-56D5-9A50-2B13874E2335}"/>
              </a:ext>
            </a:extLst>
          </p:cNvPr>
          <p:cNvSpPr/>
          <p:nvPr/>
        </p:nvSpPr>
        <p:spPr>
          <a:xfrm rot="5400000">
            <a:off x="8461552" y="4910884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모서리가 둥근 직사각형 10">
            <a:extLst>
              <a:ext uri="{FF2B5EF4-FFF2-40B4-BE49-F238E27FC236}">
                <a16:creationId xmlns:a16="http://schemas.microsoft.com/office/drawing/2014/main" id="{09DA20C4-89DA-1070-9E85-D4926B40A8B7}"/>
              </a:ext>
            </a:extLst>
          </p:cNvPr>
          <p:cNvSpPr/>
          <p:nvPr/>
        </p:nvSpPr>
        <p:spPr>
          <a:xfrm>
            <a:off x="7847253" y="974556"/>
            <a:ext cx="3919297" cy="2553709"/>
          </a:xfrm>
          <a:prstGeom prst="roundRect">
            <a:avLst>
              <a:gd name="adj" fmla="val 27964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9CD5CD-D692-344A-D9CA-B588FCFEFD72}"/>
              </a:ext>
            </a:extLst>
          </p:cNvPr>
          <p:cNvSpPr/>
          <p:nvPr/>
        </p:nvSpPr>
        <p:spPr>
          <a:xfrm>
            <a:off x="7911538" y="1205163"/>
            <a:ext cx="3799054" cy="2167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퍼지 클러스터링을 통해 결정된 군집 개수를 가지고 각각의 사용자에게 군집을 할당한다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사용자에 대한 추천을 수행하기 위해 군집 내의 다른 사용자가 아직 갖고 있지 않은 담보코드 군집을 찾아 추천 담보코드 군집을 선택해 출력한다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추천된 군집이 갖는 담보코드의 리스트를 출력하여 결과를 확인한다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13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447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- 27 -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K-means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8D92872-6283-28B4-9762-281CD154E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8" y="1553439"/>
            <a:ext cx="5919323" cy="2856657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8B4264D8-844E-05BA-A1F5-B1E20D9B06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" r="3058"/>
          <a:stretch/>
        </p:blipFill>
        <p:spPr>
          <a:xfrm>
            <a:off x="6591711" y="1188773"/>
            <a:ext cx="5174839" cy="4109076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8A2C574-0CD7-19E3-3B93-2386F1B0D732}"/>
              </a:ext>
            </a:extLst>
          </p:cNvPr>
          <p:cNvSpPr/>
          <p:nvPr/>
        </p:nvSpPr>
        <p:spPr>
          <a:xfrm>
            <a:off x="5184551" y="3317724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8A316CB3-399C-F8D7-46EC-52F49452376A}"/>
              </a:ext>
            </a:extLst>
          </p:cNvPr>
          <p:cNvSpPr/>
          <p:nvPr/>
        </p:nvSpPr>
        <p:spPr>
          <a:xfrm>
            <a:off x="1244443" y="5609186"/>
            <a:ext cx="10297687" cy="9901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400" dirty="0"/>
              <a:t>담보 코드를 출력할 수 있게 하였습니다</a:t>
            </a:r>
            <a:r>
              <a:rPr lang="en-US" altLang="ko-KR" sz="1400" dirty="0"/>
              <a:t>.</a:t>
            </a: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F23BEA-ADB8-8D26-2AA0-564316ED7147}"/>
              </a:ext>
            </a:extLst>
          </p:cNvPr>
          <p:cNvSpPr/>
          <p:nvPr/>
        </p:nvSpPr>
        <p:spPr>
          <a:xfrm>
            <a:off x="1374229" y="5586835"/>
            <a:ext cx="10074833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K-means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데이터를 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개의 군집으로 그룹화하는 비지도 학습 알고리즘 중 하나로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각 군집은 서로 다른 중심을 가지며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포인트는 가장 가까운 중심에 할당된다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사용자는 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K-means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알고리즘을 적용할 때 몇 개의 군집으로 데이터를 나눌지 결정해야 한다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이는 알고리즘이 수렴하는 군집의 수를 지정하는 데 중요한 역할을 한다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endParaRPr lang="ko-KR" altLang="en-US" sz="14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738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- 28 -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K-means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E204A12-E5B3-2BC9-B5B9-6882FEDF9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0" y="1562081"/>
            <a:ext cx="6302286" cy="2872989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스크린샷, 다채로움, 그래프이(가) 표시된 사진&#10;&#10;자동 생성된 설명">
            <a:extLst>
              <a:ext uri="{FF2B5EF4-FFF2-40B4-BE49-F238E27FC236}">
                <a16:creationId xmlns:a16="http://schemas.microsoft.com/office/drawing/2014/main" id="{8E679C5A-F4D9-51E6-BF9E-E1E8C2567D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2" r="5631"/>
          <a:stretch/>
        </p:blipFill>
        <p:spPr>
          <a:xfrm>
            <a:off x="6341209" y="2100333"/>
            <a:ext cx="5313131" cy="4177601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1AC1751-A7D2-7C23-6577-BB3E00BF11D0}"/>
              </a:ext>
            </a:extLst>
          </p:cNvPr>
          <p:cNvSpPr/>
          <p:nvPr/>
        </p:nvSpPr>
        <p:spPr>
          <a:xfrm>
            <a:off x="4815557" y="4627921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4490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- 29 -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K-means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5" name="그림 14" descr="텍스트, 폰트, 라인, 스크린샷이(가) 표시된 사진&#10;&#10;자동 생성된 설명">
            <a:extLst>
              <a:ext uri="{FF2B5EF4-FFF2-40B4-BE49-F238E27FC236}">
                <a16:creationId xmlns:a16="http://schemas.microsoft.com/office/drawing/2014/main" id="{2D5AFC5E-B6B4-E7E2-09FE-5D78E2E4F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36" y="1493881"/>
            <a:ext cx="6073666" cy="815411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17" name="그림 16" descr="텍스트, 폰트, 라인, 타이포그래피이(가) 표시된 사진&#10;&#10;자동 생성된 설명">
            <a:extLst>
              <a:ext uri="{FF2B5EF4-FFF2-40B4-BE49-F238E27FC236}">
                <a16:creationId xmlns:a16="http://schemas.microsoft.com/office/drawing/2014/main" id="{A170ED84-01B4-7B10-CE7E-F8F151869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36" y="2565705"/>
            <a:ext cx="3299746" cy="396274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0" name="그림 19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082169E-FB1E-2C68-123C-8B6CE11FE7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36" y="3199006"/>
            <a:ext cx="5113463" cy="2377646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26CF4AF-5A25-8A62-683D-DA24D2248E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36" y="5738536"/>
            <a:ext cx="3863675" cy="205758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1ABF113-001A-4FA5-A673-949FBA85A9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822" y="2615571"/>
            <a:ext cx="6856137" cy="405897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8" name="그림 27" descr="스크린샷, 라인, 텍스트, 번호이(가) 표시된 사진&#10;&#10;자동 생성된 설명">
            <a:extLst>
              <a:ext uri="{FF2B5EF4-FFF2-40B4-BE49-F238E27FC236}">
                <a16:creationId xmlns:a16="http://schemas.microsoft.com/office/drawing/2014/main" id="{7BA9F991-4F8F-222E-A265-B363C97658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934" y="3262503"/>
            <a:ext cx="8283658" cy="1920406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</p:spTree>
    <p:extLst>
      <p:ext uri="{BB962C8B-B14F-4D97-AF65-F5344CB8AC3E}">
        <p14:creationId xmlns:p14="http://schemas.microsoft.com/office/powerpoint/2010/main" val="11541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데이터 모델링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- 30 -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633210" y="810610"/>
            <a:ext cx="293294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K-means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6" name="그림 1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C047AC8-6CA7-3007-775F-9391DE685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98" y="1597858"/>
            <a:ext cx="6370872" cy="3901778"/>
          </a:xfrm>
          <a:prstGeom prst="rect">
            <a:avLst/>
          </a:prstGeom>
          <a:ln w="28575">
            <a:solidFill>
              <a:srgbClr val="8FAADC"/>
            </a:solidFill>
          </a:ln>
        </p:spPr>
      </p:pic>
      <p:pic>
        <p:nvPicPr>
          <p:cNvPr id="21" name="그림 20" descr="텍스트, 폰트, 스크린샷, 대수학이(가) 표시된 사진&#10;&#10;자동 생성된 설명">
            <a:extLst>
              <a:ext uri="{FF2B5EF4-FFF2-40B4-BE49-F238E27FC236}">
                <a16:creationId xmlns:a16="http://schemas.microsoft.com/office/drawing/2014/main" id="{F8ED84E7-F3EF-8AE3-7FD0-3E86B6261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205" y="1970078"/>
            <a:ext cx="5273497" cy="784928"/>
          </a:xfrm>
          <a:prstGeom prst="rect">
            <a:avLst/>
          </a:prstGeom>
          <a:ln w="19050">
            <a:solidFill>
              <a:srgbClr val="8FAADC"/>
            </a:solidFill>
          </a:ln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5D062670-4B6C-46A2-BBF9-0FF6F818E22A}"/>
              </a:ext>
            </a:extLst>
          </p:cNvPr>
          <p:cNvSpPr/>
          <p:nvPr/>
        </p:nvSpPr>
        <p:spPr>
          <a:xfrm>
            <a:off x="4544969" y="2186462"/>
            <a:ext cx="1300480" cy="568544"/>
          </a:xfrm>
          <a:prstGeom prst="rightArrow">
            <a:avLst>
              <a:gd name="adj1" fmla="val 50000"/>
              <a:gd name="adj2" fmla="val 90449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F3B6B55F-AFAF-0E55-F987-B82CA7C07A90}"/>
              </a:ext>
            </a:extLst>
          </p:cNvPr>
          <p:cNvSpPr/>
          <p:nvPr/>
        </p:nvSpPr>
        <p:spPr>
          <a:xfrm>
            <a:off x="7432013" y="3420053"/>
            <a:ext cx="4170946" cy="2524392"/>
          </a:xfrm>
          <a:prstGeom prst="roundRect">
            <a:avLst>
              <a:gd name="adj" fmla="val 27964"/>
            </a:avLst>
          </a:prstGeom>
          <a:solidFill>
            <a:schemeClr val="bg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altLang="ko-KR" sz="1400" b="1" dirty="0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0C4DE8-5ECF-ED81-FB02-45AB9AD7ABCB}"/>
              </a:ext>
            </a:extLst>
          </p:cNvPr>
          <p:cNvSpPr/>
          <p:nvPr/>
        </p:nvSpPr>
        <p:spPr>
          <a:xfrm>
            <a:off x="7528048" y="3748339"/>
            <a:ext cx="4054714" cy="1867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 받은 정보를 가지고 생성된 새로운 고객 데이터의 클러스터를 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K-Means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모델을 통해 예측하고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en-US" altLang="ko-KR" sz="13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pivot_table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새로운 고객의 클러스터에 해당하는 담보코드들 중 카운트가 높은 순으로 고객의 추천을 해줌으로써 담보코드 영업의 타당성과 신뢰성을 향상시킬 수 있을 것이다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5853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결과 비교 및 결론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- 31 -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1573779" y="962416"/>
            <a:ext cx="4060088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DBSCAN vs Fuzzy vs K-means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80F1E2F-5DD8-1F42-8086-794CEF883F26}"/>
              </a:ext>
            </a:extLst>
          </p:cNvPr>
          <p:cNvSpPr/>
          <p:nvPr/>
        </p:nvSpPr>
        <p:spPr>
          <a:xfrm>
            <a:off x="921161" y="1742310"/>
            <a:ext cx="10346914" cy="1278294"/>
          </a:xfrm>
          <a:prstGeom prst="roundRect">
            <a:avLst/>
          </a:prstGeom>
          <a:ln w="28575">
            <a:solidFill>
              <a:srgbClr val="8170E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832E66-FBCB-30B3-FDA1-6078A6FEBF9A}"/>
              </a:ext>
            </a:extLst>
          </p:cNvPr>
          <p:cNvSpPr/>
          <p:nvPr/>
        </p:nvSpPr>
        <p:spPr>
          <a:xfrm>
            <a:off x="1704407" y="2047712"/>
            <a:ext cx="8780422" cy="66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 받은 고객의 데이터로 새로운 고객 데이터를 생성한 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해당 고객의 군집을 예측하여 선호하는 담보코드를 출력했다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A5999, A4199, A4200, A1300, A5199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순의 다섯 개의 담보코드를 추천한 것을 확인할 수 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3FE299A-5CA8-6F2F-58BF-27C715486000}"/>
              </a:ext>
            </a:extLst>
          </p:cNvPr>
          <p:cNvSpPr/>
          <p:nvPr/>
        </p:nvSpPr>
        <p:spPr>
          <a:xfrm>
            <a:off x="922543" y="3308437"/>
            <a:ext cx="10346914" cy="1278294"/>
          </a:xfrm>
          <a:prstGeom prst="roundRect">
            <a:avLst/>
          </a:prstGeom>
          <a:ln w="28575">
            <a:solidFill>
              <a:srgbClr val="8170E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313974-A99E-6D4E-B0EE-7571BBCA3360}"/>
              </a:ext>
            </a:extLst>
          </p:cNvPr>
          <p:cNvSpPr/>
          <p:nvPr/>
        </p:nvSpPr>
        <p:spPr>
          <a:xfrm>
            <a:off x="1705789" y="3463797"/>
            <a:ext cx="8780422" cy="967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고객의 군집을 요약해서 출력하고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타겟 군집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(cluster membership = 2)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해당하는 사용자들 목록을 출력했다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추천된 군집이 갖는 담보코드 리스트를 출력했으며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A5199, A5999, A4199, A4200, A4210, A1300, A4104, A9999, A5200, A3300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순으로 추천한 것을 확인할 수 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5C07EED-71F7-040D-5704-2F86EFF20D64}"/>
              </a:ext>
            </a:extLst>
          </p:cNvPr>
          <p:cNvSpPr/>
          <p:nvPr/>
        </p:nvSpPr>
        <p:spPr>
          <a:xfrm>
            <a:off x="921161" y="4833228"/>
            <a:ext cx="10346914" cy="1278294"/>
          </a:xfrm>
          <a:prstGeom prst="roundRect">
            <a:avLst/>
          </a:prstGeom>
          <a:ln w="28575">
            <a:solidFill>
              <a:srgbClr val="8170E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0B3A49-8E2B-D1FB-58CF-81E855E8BD2F}"/>
              </a:ext>
            </a:extLst>
          </p:cNvPr>
          <p:cNvSpPr/>
          <p:nvPr/>
        </p:nvSpPr>
        <p:spPr>
          <a:xfrm>
            <a:off x="1704407" y="5059953"/>
            <a:ext cx="8780422" cy="967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 받은 고객의 데이터로 새로운 고객 데이터를 생성한 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해당 고객의 군집을 예측하여 출력했다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해당 고객과 유사한 군집의 고객들이 많이 가입한 담보코드 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A5999, A4199, A4200, A1300, A5199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순의 다섯 개를 추천한 것을 확인할 수 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B88B2CE-D2E6-D7B0-B661-9E025DA713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67" y="826791"/>
            <a:ext cx="840467" cy="84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59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/>
          <p:cNvGrpSpPr/>
          <p:nvPr/>
        </p:nvGrpSpPr>
        <p:grpSpPr>
          <a:xfrm>
            <a:off x="0" y="65764"/>
            <a:ext cx="12192000" cy="6792236"/>
            <a:chOff x="0" y="65764"/>
            <a:chExt cx="12192000" cy="6792236"/>
          </a:xfrm>
        </p:grpSpPr>
        <p:sp>
          <p:nvSpPr>
            <p:cNvPr id="5" name="평행 사변형 4">
              <a:extLst>
                <a:ext uri="{FF2B5EF4-FFF2-40B4-BE49-F238E27FC236}">
                  <a16:creationId xmlns:a16="http://schemas.microsoft.com/office/drawing/2014/main" id="{FB9EA980-D6DB-C6AD-1DED-AC6C6E63ADAE}"/>
                </a:ext>
              </a:extLst>
            </p:cNvPr>
            <p:cNvSpPr/>
            <p:nvPr/>
          </p:nvSpPr>
          <p:spPr>
            <a:xfrm>
              <a:off x="0" y="6709572"/>
              <a:ext cx="12192000" cy="148428"/>
            </a:xfrm>
            <a:prstGeom prst="parallelogram">
              <a:avLst>
                <a:gd name="adj" fmla="val 116919"/>
              </a:avLst>
            </a:prstGeom>
            <a:solidFill>
              <a:schemeClr val="accent1">
                <a:lumMod val="5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8FDD9E15-34EB-E867-C303-80D3074F6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9" y="258616"/>
              <a:ext cx="11658601" cy="6539948"/>
            </a:xfrm>
            <a:prstGeom prst="cube">
              <a:avLst>
                <a:gd name="adj" fmla="val 1065"/>
              </a:avLst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067CC35-F6CE-9A45-F0AB-C60588F0F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0037" y="320040"/>
              <a:ext cx="11592000" cy="461665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7675">
                <a:tabLst>
                  <a:tab pos="1524000" algn="l"/>
                  <a:tab pos="2419350" algn="l"/>
                </a:tabLst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결과 비교 및 결론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10FC87-39FD-D982-DA1D-F82AB170BA8E}"/>
                </a:ext>
              </a:extLst>
            </p:cNvPr>
            <p:cNvGrpSpPr/>
            <p:nvPr/>
          </p:nvGrpSpPr>
          <p:grpSpPr>
            <a:xfrm>
              <a:off x="10868674" y="424266"/>
              <a:ext cx="897876" cy="229536"/>
              <a:chOff x="10914582" y="216980"/>
              <a:chExt cx="998066" cy="255149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896D372E-3A19-2699-CFD7-8821D9680260}"/>
                  </a:ext>
                </a:extLst>
              </p:cNvPr>
              <p:cNvSpPr/>
              <p:nvPr/>
            </p:nvSpPr>
            <p:spPr>
              <a:xfrm>
                <a:off x="10914582" y="222666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F37BB55E-86A4-FBAD-EFA8-6062D5EDDE1C}"/>
                  </a:ext>
                </a:extLst>
              </p:cNvPr>
              <p:cNvSpPr/>
              <p:nvPr/>
            </p:nvSpPr>
            <p:spPr>
              <a:xfrm>
                <a:off x="11289862" y="216980"/>
                <a:ext cx="249462" cy="249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7F6E0DBE-298C-4C1A-BAD8-D4E3D8B493A2}"/>
                  </a:ext>
                </a:extLst>
              </p:cNvPr>
              <p:cNvSpPr/>
              <p:nvPr/>
            </p:nvSpPr>
            <p:spPr>
              <a:xfrm>
                <a:off x="11663186" y="222667"/>
                <a:ext cx="249462" cy="24946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0">
                  <a:defRPr/>
                </a:pPr>
                <a:endParaRPr lang="en-US" altLang="ko-KR" sz="24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F68B81C-88DE-5361-73CA-6B4AD7C99F23}"/>
                  </a:ext>
                </a:extLst>
              </p:cNvPr>
              <p:cNvSpPr/>
              <p:nvPr/>
            </p:nvSpPr>
            <p:spPr>
              <a:xfrm>
                <a:off x="11361623" y="289719"/>
                <a:ext cx="103983" cy="103983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9D21A8-24A1-CE93-28C2-3A26863655BE}"/>
                  </a:ext>
                </a:extLst>
              </p:cNvPr>
              <p:cNvSpPr/>
              <p:nvPr/>
            </p:nvSpPr>
            <p:spPr>
              <a:xfrm>
                <a:off x="10985313" y="390165"/>
                <a:ext cx="108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3DA6A9F-EFEE-2A1C-E79C-8FCE023BE2E4}"/>
                  </a:ext>
                </a:extLst>
              </p:cNvPr>
              <p:cNvSpPr/>
              <p:nvPr/>
            </p:nvSpPr>
            <p:spPr>
              <a:xfrm rot="2700000">
                <a:off x="11718625" y="339486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D9B9082-D1F9-0F1B-B7D4-857DA19BC473}"/>
                  </a:ext>
                </a:extLst>
              </p:cNvPr>
              <p:cNvSpPr/>
              <p:nvPr/>
            </p:nvSpPr>
            <p:spPr>
              <a:xfrm rot="18900000">
                <a:off x="11718624" y="336644"/>
                <a:ext cx="144000" cy="252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25" name="사다리꼴 24">
              <a:extLst>
                <a:ext uri="{FF2B5EF4-FFF2-40B4-BE49-F238E27FC236}">
                  <a16:creationId xmlns:a16="http://schemas.microsoft.com/office/drawing/2014/main" id="{32775D9C-CAA2-4A0D-22E5-A71535D6CAB8}"/>
                </a:ext>
              </a:extLst>
            </p:cNvPr>
            <p:cNvSpPr/>
            <p:nvPr/>
          </p:nvSpPr>
          <p:spPr>
            <a:xfrm>
              <a:off x="2176462" y="65765"/>
              <a:ext cx="977891" cy="254275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44DD7F4-F341-6CA3-B852-BFE2FB11F294}"/>
                </a:ext>
              </a:extLst>
            </p:cNvPr>
            <p:cNvSpPr/>
            <p:nvPr/>
          </p:nvSpPr>
          <p:spPr>
            <a:xfrm>
              <a:off x="923925" y="65764"/>
              <a:ext cx="1771650" cy="254276"/>
            </a:xfrm>
            <a:prstGeom prst="trapezoid">
              <a:avLst/>
            </a:prstGeom>
            <a:solidFill>
              <a:schemeClr val="bg1"/>
            </a:solidFill>
            <a:ln w="22225">
              <a:solidFill>
                <a:schemeClr val="accent1">
                  <a:lumMod val="50000"/>
                </a:schemeClr>
              </a:solidFill>
            </a:ln>
            <a:effectLst>
              <a:outerShdw dist="381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7170367-7A26-FCFD-3283-DC65A779916A}"/>
                </a:ext>
              </a:extLst>
            </p:cNvPr>
            <p:cNvSpPr/>
            <p:nvPr/>
          </p:nvSpPr>
          <p:spPr>
            <a:xfrm>
              <a:off x="2476328" y="148428"/>
              <a:ext cx="107634" cy="110188"/>
            </a:xfrm>
            <a:custGeom>
              <a:avLst/>
              <a:gdLst>
                <a:gd name="connsiteX0" fmla="*/ 91604 w 107634"/>
                <a:gd name="connsiteY0" fmla="*/ 0 h 110188"/>
                <a:gd name="connsiteX1" fmla="*/ 107634 w 107634"/>
                <a:gd name="connsiteY1" fmla="*/ 16030 h 110188"/>
                <a:gd name="connsiteX2" fmla="*/ 68570 w 107634"/>
                <a:gd name="connsiteY2" fmla="*/ 55093 h 110188"/>
                <a:gd name="connsiteX3" fmla="*/ 107634 w 107634"/>
                <a:gd name="connsiteY3" fmla="*/ 94158 h 110188"/>
                <a:gd name="connsiteX4" fmla="*/ 91604 w 107634"/>
                <a:gd name="connsiteY4" fmla="*/ 110188 h 110188"/>
                <a:gd name="connsiteX5" fmla="*/ 52539 w 107634"/>
                <a:gd name="connsiteY5" fmla="*/ 71123 h 110188"/>
                <a:gd name="connsiteX6" fmla="*/ 16031 w 107634"/>
                <a:gd name="connsiteY6" fmla="*/ 107632 h 110188"/>
                <a:gd name="connsiteX7" fmla="*/ 0 w 107634"/>
                <a:gd name="connsiteY7" fmla="*/ 91602 h 110188"/>
                <a:gd name="connsiteX8" fmla="*/ 36510 w 107634"/>
                <a:gd name="connsiteY8" fmla="*/ 55094 h 110188"/>
                <a:gd name="connsiteX9" fmla="*/ 2 w 107634"/>
                <a:gd name="connsiteY9" fmla="*/ 18586 h 110188"/>
                <a:gd name="connsiteX10" fmla="*/ 16032 w 107634"/>
                <a:gd name="connsiteY10" fmla="*/ 2556 h 110188"/>
                <a:gd name="connsiteX11" fmla="*/ 52540 w 107634"/>
                <a:gd name="connsiteY11" fmla="*/ 39064 h 1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4" h="110188">
                  <a:moveTo>
                    <a:pt x="91604" y="0"/>
                  </a:moveTo>
                  <a:lnTo>
                    <a:pt x="107634" y="16030"/>
                  </a:lnTo>
                  <a:lnTo>
                    <a:pt x="68570" y="55093"/>
                  </a:lnTo>
                  <a:lnTo>
                    <a:pt x="107634" y="94158"/>
                  </a:lnTo>
                  <a:lnTo>
                    <a:pt x="91604" y="110188"/>
                  </a:lnTo>
                  <a:lnTo>
                    <a:pt x="52539" y="71123"/>
                  </a:lnTo>
                  <a:lnTo>
                    <a:pt x="16031" y="107632"/>
                  </a:lnTo>
                  <a:lnTo>
                    <a:pt x="0" y="91602"/>
                  </a:lnTo>
                  <a:lnTo>
                    <a:pt x="36510" y="55094"/>
                  </a:lnTo>
                  <a:lnTo>
                    <a:pt x="2" y="18586"/>
                  </a:lnTo>
                  <a:lnTo>
                    <a:pt x="16032" y="2556"/>
                  </a:lnTo>
                  <a:lnTo>
                    <a:pt x="52540" y="3906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A13694E-6135-1A9B-495D-F9990AA985E4}"/>
              </a:ext>
            </a:extLst>
          </p:cNvPr>
          <p:cNvSpPr txBox="1"/>
          <p:nvPr/>
        </p:nvSpPr>
        <p:spPr>
          <a:xfrm>
            <a:off x="417145" y="6261625"/>
            <a:ext cx="19788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- 31 -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C074E7-E262-485D-DB17-2117FF48E1AD}"/>
              </a:ext>
            </a:extLst>
          </p:cNvPr>
          <p:cNvSpPr/>
          <p:nvPr/>
        </p:nvSpPr>
        <p:spPr>
          <a:xfrm>
            <a:off x="1704443" y="948993"/>
            <a:ext cx="4843859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DBSCAN vs Fuzzy vs K-means </a:t>
            </a:r>
            <a:r>
              <a:rPr lang="ko-KR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개선점</a:t>
            </a:r>
            <a:endParaRPr lang="ko-KR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80F1E2F-5DD8-1F42-8086-794CEF883F26}"/>
              </a:ext>
            </a:extLst>
          </p:cNvPr>
          <p:cNvSpPr/>
          <p:nvPr/>
        </p:nvSpPr>
        <p:spPr>
          <a:xfrm>
            <a:off x="921161" y="1742310"/>
            <a:ext cx="10346914" cy="1278294"/>
          </a:xfrm>
          <a:prstGeom prst="roundRect">
            <a:avLst/>
          </a:prstGeom>
          <a:ln w="28575">
            <a:solidFill>
              <a:srgbClr val="DCD1F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3FE299A-5CA8-6F2F-58BF-27C715486000}"/>
              </a:ext>
            </a:extLst>
          </p:cNvPr>
          <p:cNvSpPr/>
          <p:nvPr/>
        </p:nvSpPr>
        <p:spPr>
          <a:xfrm>
            <a:off x="922543" y="3308437"/>
            <a:ext cx="10346914" cy="1278294"/>
          </a:xfrm>
          <a:prstGeom prst="roundRect">
            <a:avLst/>
          </a:prstGeom>
          <a:ln w="28575">
            <a:solidFill>
              <a:srgbClr val="DCD1F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5C07EED-71F7-040D-5704-2F86EFF20D64}"/>
              </a:ext>
            </a:extLst>
          </p:cNvPr>
          <p:cNvSpPr/>
          <p:nvPr/>
        </p:nvSpPr>
        <p:spPr>
          <a:xfrm>
            <a:off x="921161" y="4833228"/>
            <a:ext cx="10346914" cy="1278294"/>
          </a:xfrm>
          <a:prstGeom prst="roundRect">
            <a:avLst/>
          </a:prstGeom>
          <a:ln w="28575">
            <a:solidFill>
              <a:srgbClr val="DCD1F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0B3A49-8E2B-D1FB-58CF-81E855E8BD2F}"/>
              </a:ext>
            </a:extLst>
          </p:cNvPr>
          <p:cNvSpPr/>
          <p:nvPr/>
        </p:nvSpPr>
        <p:spPr>
          <a:xfrm>
            <a:off x="1296955" y="5132470"/>
            <a:ext cx="9635350" cy="66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K-means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모델은 데이터간 유클리드 거리를 통해서 </a:t>
            </a:r>
            <a:r>
              <a:rPr lang="ko-KR" altLang="en-US" sz="13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군집화하는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것이기 때문에 알고리즘을 적용할 때 클러스터의 개수에 따라서 결과가 크게 달라진다는 점에서 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선정에 앞서 제시한 그래프를 이용하는 등의 신중할 필요가 있어 보인다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CC6BF7-D2DE-4982-73C5-5323DD814894}"/>
              </a:ext>
            </a:extLst>
          </p:cNvPr>
          <p:cNvSpPr/>
          <p:nvPr/>
        </p:nvSpPr>
        <p:spPr>
          <a:xfrm>
            <a:off x="1296955" y="3626844"/>
            <a:ext cx="9635350" cy="66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Fuzzy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모델은 확률 기반 모델이기 때문에 모호한 확률까지 모두 볼 수 있는 장점이 있지만 모호한 확률은 제외하고 싶다면 다른 방법을 고려 </a:t>
            </a:r>
            <a:r>
              <a:rPr lang="ko-KR" altLang="en-US" sz="13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해야할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수 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lang="en-US" altLang="ko-KR" sz="1300" dirty="0">
              <a:solidFill>
                <a:prstClr val="black">
                  <a:lumMod val="65000"/>
                  <a:lumOff val="35000"/>
                </a:prst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7DB3FD-4097-8337-FB42-02FA568C211A}"/>
              </a:ext>
            </a:extLst>
          </p:cNvPr>
          <p:cNvSpPr/>
          <p:nvPr/>
        </p:nvSpPr>
        <p:spPr>
          <a:xfrm>
            <a:off x="1296955" y="2050103"/>
            <a:ext cx="9635350" cy="66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DBSCAN </a:t>
            </a:r>
            <a:r>
              <a:rPr lang="ko-KR" altLang="en-US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모델은 밀도 기반 모델이기 때문에 데이터의 밀집도에 따라 영향을 받기 때문에 이번 자료는 데이터간 밀도가 높았지만 데이터의 수치가 고르게 퍼져 있는 경우에는 다른 방법을 고려 해야 할 수 있다</a:t>
            </a:r>
            <a:r>
              <a:rPr lang="en-US" altLang="ko-KR" sz="130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4EBA561-B0AC-1E22-9CBA-D762032C91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15" y="861410"/>
            <a:ext cx="766944" cy="7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037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1822</Words>
  <Application>Microsoft Office PowerPoint</Application>
  <PresentationFormat>와이드스크린</PresentationFormat>
  <Paragraphs>290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G마켓 산스 TTF Medium</vt:lpstr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배정연</cp:lastModifiedBy>
  <cp:revision>17</cp:revision>
  <dcterms:created xsi:type="dcterms:W3CDTF">2023-06-04T07:13:56Z</dcterms:created>
  <dcterms:modified xsi:type="dcterms:W3CDTF">2023-12-13T13:40:52Z</dcterms:modified>
</cp:coreProperties>
</file>